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06" r:id="rId1"/>
  </p:sldMasterIdLst>
  <p:notesMasterIdLst>
    <p:notesMasterId r:id="rId21"/>
  </p:notesMasterIdLst>
  <p:sldIdLst>
    <p:sldId id="256" r:id="rId2"/>
    <p:sldId id="283" r:id="rId3"/>
    <p:sldId id="257" r:id="rId4"/>
    <p:sldId id="284" r:id="rId5"/>
    <p:sldId id="258" r:id="rId6"/>
    <p:sldId id="285" r:id="rId7"/>
    <p:sldId id="286" r:id="rId8"/>
    <p:sldId id="259" r:id="rId9"/>
    <p:sldId id="288" r:id="rId10"/>
    <p:sldId id="287" r:id="rId11"/>
    <p:sldId id="289" r:id="rId12"/>
    <p:sldId id="292" r:id="rId13"/>
    <p:sldId id="290" r:id="rId14"/>
    <p:sldId id="291" r:id="rId15"/>
    <p:sldId id="293" r:id="rId16"/>
    <p:sldId id="295" r:id="rId17"/>
    <p:sldId id="294" r:id="rId18"/>
    <p:sldId id="296" r:id="rId19"/>
    <p:sldId id="29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83"/>
            <p14:sldId id="257"/>
            <p14:sldId id="284"/>
          </p14:sldIdLst>
        </p14:section>
        <p14:section name="Search for 3D Models" id="{6844172C-9703-4DC7-908A-C23538616A3C}">
          <p14:sldIdLst>
            <p14:sldId id="258"/>
            <p14:sldId id="285"/>
            <p14:sldId id="286"/>
            <p14:sldId id="259"/>
            <p14:sldId id="288"/>
            <p14:sldId id="287"/>
            <p14:sldId id="289"/>
            <p14:sldId id="292"/>
            <p14:sldId id="290"/>
            <p14:sldId id="291"/>
            <p14:sldId id="293"/>
            <p14:sldId id="295"/>
            <p14:sldId id="294"/>
            <p14:sldId id="296"/>
            <p14:sldId id="297"/>
          </p14:sldIdLst>
        </p14:section>
        <p14:section name="Insert a 3D Model from a File" id="{66737F24-1C36-4DF4-A00F-927A3F1468AC}">
          <p14:sldIdLst/>
        </p14:section>
        <p14:section name="Position and Rotate Your 3D Model" id="{A08F0015-E7F5-4E26-BBAF-AEE4F9A16AD2}">
          <p14:sldIdLst/>
        </p14:section>
        <p14:section name="Animate Your 3D Model" id="{B62868DA-F525-4AC5-9E3E-39ECA0154BBD}">
          <p14:sldIdLst/>
        </p14:section>
        <p14:section name="Learn More" id="{62756D7E-964E-493A-83A1-13BC0B6B5E4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8153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A54C80-263E-416B-A8E0-580EDEADCBDC}" type="datetimeFigureOut">
              <a:rPr lang="en-US" dirty="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78512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12828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A54C80-263E-416B-A8E0-580EDEADCBDC}" type="datetimeFigureOut">
              <a:rPr lang="en-US" dirty="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3986714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87237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45406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94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58785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pPr/>
              <a:t>10/26/2026</a:t>
            </a:fld>
            <a:endParaRPr lang="en-US"/>
          </a:p>
        </p:txBody>
      </p:sp>
    </p:spTree>
    <p:extLst>
      <p:ext uri="{BB962C8B-B14F-4D97-AF65-F5344CB8AC3E}">
        <p14:creationId xmlns:p14="http://schemas.microsoft.com/office/powerpoint/2010/main" val="3590644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2642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27682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38212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79983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24127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1954614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7458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616600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134447960"/>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Lst>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YUB-OyGr1oA" TargetMode="Externa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JayanthDahire/HT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normAutofit fontScale="90000"/>
          </a:bodyPr>
          <a:lstStyle/>
          <a:p>
            <a:r>
              <a:rPr lang="en-US" b="1" u="sng"/>
              <a:t>Hardware Trojan Detection at RTL Level</a:t>
            </a:r>
            <a:endParaRPr lang="en-US" b="1" u="sng">
              <a:cs typeface="Segoe UI Light"/>
            </a:endParaRP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p:txBody>
          <a:bodyPr/>
          <a:lstStyle/>
          <a:p>
            <a:r>
              <a:rPr lang="en-US"/>
              <a:t>-</a:t>
            </a:r>
            <a:r>
              <a:rPr lang="en-US" u="sng"/>
              <a:t>CS203(Digital Logic Design) Project</a:t>
            </a:r>
            <a:endParaRPr lang="en-US" u="sng">
              <a:cs typeface="Segoe UI Light"/>
            </a:endParaRPr>
          </a:p>
        </p:txBody>
      </p:sp>
      <p:sp>
        <p:nvSpPr>
          <p:cNvPr id="5" name="Title 1">
            <a:extLst>
              <a:ext uri="{FF2B5EF4-FFF2-40B4-BE49-F238E27FC236}">
                <a16:creationId xmlns:a16="http://schemas.microsoft.com/office/drawing/2014/main" id="{566FA85D-3B0A-4E0C-B8AC-042993910A93}"/>
              </a:ext>
            </a:extLst>
          </p:cNvPr>
          <p:cNvSpPr txBox="1">
            <a:spLocks/>
          </p:cNvSpPr>
          <p:nvPr/>
        </p:nvSpPr>
        <p:spPr>
          <a:xfrm>
            <a:off x="8077762" y="5276470"/>
            <a:ext cx="2447364" cy="495232"/>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2600" kern="1200">
                <a:solidFill>
                  <a:srgbClr val="408E93"/>
                </a:solidFill>
                <a:latin typeface="Agency FB" panose="020B0503020202020204" pitchFamily="34" charset="0"/>
                <a:ea typeface="+mj-ea"/>
                <a:cs typeface="Segoe UI Light" panose="020B0502040204020203" pitchFamily="34" charset="0"/>
              </a:defRPr>
            </a:lvl1pPr>
          </a:lstStyle>
          <a:p>
            <a:pPr>
              <a:spcBef>
                <a:spcPts val="1000"/>
              </a:spcBef>
            </a:pPr>
            <a:r>
              <a:rPr lang="en-US" sz="2000" u="sng">
                <a:solidFill>
                  <a:schemeClr val="bg1"/>
                </a:solidFill>
                <a:latin typeface="+mj-lt"/>
                <a:ea typeface="+mn-ea"/>
                <a:cs typeface="+mn-cs"/>
              </a:rPr>
              <a:t>Group</a:t>
            </a:r>
            <a:r>
              <a:rPr lang="en-US" sz="2000">
                <a:solidFill>
                  <a:schemeClr val="bg1"/>
                </a:solidFill>
                <a:latin typeface="+mj-lt"/>
                <a:ea typeface="+mn-ea"/>
                <a:cs typeface="+mn-cs"/>
              </a:rPr>
              <a:t> :- 10</a:t>
            </a:r>
            <a:endParaRPr lang="en-US" sz="2000">
              <a:solidFill>
                <a:schemeClr val="bg1"/>
              </a:solidFill>
              <a:latin typeface="+mj-lt"/>
              <a:ea typeface="+mn-ea"/>
              <a:cs typeface="Segoe UI Light"/>
            </a:endParaRPr>
          </a:p>
        </p:txBody>
      </p:sp>
      <p:sp>
        <p:nvSpPr>
          <p:cNvPr id="4" name="Subtitle 2">
            <a:extLst>
              <a:ext uri="{FF2B5EF4-FFF2-40B4-BE49-F238E27FC236}">
                <a16:creationId xmlns:a16="http://schemas.microsoft.com/office/drawing/2014/main" id="{0FE0F52F-ADF1-4011-A51B-92383D0AB7F8}"/>
              </a:ext>
            </a:extLst>
          </p:cNvPr>
          <p:cNvSpPr txBox="1">
            <a:spLocks/>
          </p:cNvSpPr>
          <p:nvPr/>
        </p:nvSpPr>
        <p:spPr>
          <a:xfrm>
            <a:off x="7013050" y="5628883"/>
            <a:ext cx="3760738" cy="1004694"/>
          </a:xfrm>
          <a:prstGeom prst="rect">
            <a:avLst/>
          </a:prstGeom>
        </p:spPr>
        <p:txBody>
          <a:bodyPr lIns="91440" tIns="45720" rIns="91440" bIns="45720">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u="sng">
                <a:solidFill>
                  <a:schemeClr val="tx1"/>
                </a:solidFill>
                <a:latin typeface="Segoe UI Light"/>
                <a:cs typeface="Segoe UI Light"/>
              </a:rPr>
              <a:t>Instructor :-Dr. Geeta</a:t>
            </a:r>
            <a:endParaRPr lang="en-US">
              <a:solidFill>
                <a:schemeClr val="tx1"/>
              </a:solidFill>
            </a:endParaRPr>
          </a:p>
          <a:p>
            <a:r>
              <a:rPr lang="en-US" sz="1600">
                <a:solidFill>
                  <a:schemeClr val="tx1"/>
                </a:solidFill>
                <a:latin typeface="Segoe UI Light"/>
                <a:cs typeface="Segoe UI Light"/>
              </a:rPr>
              <a:t>(CSE Department)</a:t>
            </a:r>
            <a:endParaRPr lang="en-US" sz="1600">
              <a:solidFill>
                <a:schemeClr val="tx1"/>
              </a:solidFill>
            </a:endParaRPr>
          </a:p>
        </p:txBody>
      </p:sp>
    </p:spTree>
    <p:extLst>
      <p:ext uri="{BB962C8B-B14F-4D97-AF65-F5344CB8AC3E}">
        <p14:creationId xmlns:p14="http://schemas.microsoft.com/office/powerpoint/2010/main" val="29975803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E3CB-4B1D-B731-E858-D26E28A3A5ED}"/>
              </a:ext>
            </a:extLst>
          </p:cNvPr>
          <p:cNvSpPr>
            <a:spLocks noGrp="1"/>
          </p:cNvSpPr>
          <p:nvPr>
            <p:ph type="title"/>
          </p:nvPr>
        </p:nvSpPr>
        <p:spPr>
          <a:xfrm>
            <a:off x="2880485" y="841375"/>
            <a:ext cx="6230857" cy="1230570"/>
          </a:xfrm>
        </p:spPr>
        <p:txBody>
          <a:bodyPr vert="horz" lIns="228600" tIns="228600" rIns="228600" bIns="228600" rtlCol="0">
            <a:normAutofit/>
          </a:bodyPr>
          <a:lstStyle/>
          <a:p>
            <a:pPr algn="l"/>
            <a:r>
              <a:rPr lang="en-US" sz="3600" u="sng">
                <a:solidFill>
                  <a:schemeClr val="tx1"/>
                </a:solidFill>
              </a:rPr>
              <a:t>Team members</a:t>
            </a:r>
          </a:p>
        </p:txBody>
      </p:sp>
      <p:sp>
        <p:nvSpPr>
          <p:cNvPr id="3" name="TextBox 2">
            <a:extLst>
              <a:ext uri="{FF2B5EF4-FFF2-40B4-BE49-F238E27FC236}">
                <a16:creationId xmlns:a16="http://schemas.microsoft.com/office/drawing/2014/main" id="{6D744D9C-BD9F-9DBD-8B52-9AE12699F7BB}"/>
              </a:ext>
            </a:extLst>
          </p:cNvPr>
          <p:cNvSpPr txBox="1"/>
          <p:nvPr/>
        </p:nvSpPr>
        <p:spPr>
          <a:xfrm>
            <a:off x="2880487" y="2249046"/>
            <a:ext cx="6123783" cy="3802762"/>
          </a:xfrm>
          <a:prstGeom prst="rect">
            <a:avLst/>
          </a:prstGeom>
        </p:spPr>
        <p:txBody>
          <a:bodyPr vert="horz" lIns="91440" tIns="45720" rIns="91440" bIns="45720" rtlCol="0">
            <a:normAutofit/>
          </a:bodyPr>
          <a:lstStyle/>
          <a:p>
            <a:pPr marL="457200" indent="-228600">
              <a:lnSpc>
                <a:spcPct val="120000"/>
              </a:lnSpc>
              <a:spcAft>
                <a:spcPts val="600"/>
              </a:spcAft>
              <a:buClr>
                <a:schemeClr val="accent1"/>
              </a:buClr>
              <a:buSzPct val="110000"/>
              <a:buFont typeface="Wingdings" panose="05000000000000000000" pitchFamily="2" charset="2"/>
              <a:buChar char="§"/>
            </a:pPr>
            <a:r>
              <a:rPr lang="en-US" sz="1600" dirty="0"/>
              <a:t>Khush Varshney :2025CSB1206</a:t>
            </a:r>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r>
              <a:rPr lang="en-US" sz="1600" dirty="0"/>
              <a:t>Jayanth </a:t>
            </a:r>
            <a:r>
              <a:rPr lang="en-US" sz="1600" dirty="0" err="1"/>
              <a:t>Dahire</a:t>
            </a:r>
            <a:r>
              <a:rPr lang="en-US" sz="1600" dirty="0"/>
              <a:t>  :2025CSB1203(Team Lead)</a:t>
            </a:r>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r>
              <a:rPr lang="en-US" sz="1600" dirty="0"/>
              <a:t>Jatin Singla   :2025CSB1202</a:t>
            </a:r>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r>
              <a:rPr lang="en-US" sz="1600" dirty="0"/>
              <a:t>Hanzala Zaid    :2025CSB1197</a:t>
            </a:r>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r>
              <a:rPr lang="en-US" sz="1600" dirty="0"/>
              <a:t>Gourav          :2025CSB1193</a:t>
            </a:r>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a:p>
            <a:pPr marL="457200" indent="-228600">
              <a:lnSpc>
                <a:spcPct val="120000"/>
              </a:lnSpc>
              <a:spcAft>
                <a:spcPts val="600"/>
              </a:spcAft>
              <a:buClr>
                <a:schemeClr val="accent1"/>
              </a:buClr>
              <a:buSzPct val="110000"/>
              <a:buFont typeface="Wingdings" panose="05000000000000000000" pitchFamily="2" charset="2"/>
              <a:buChar char="§"/>
            </a:pPr>
            <a:endParaRPr lang="en-US" sz="1600" dirty="0"/>
          </a:p>
        </p:txBody>
      </p:sp>
    </p:spTree>
    <p:extLst>
      <p:ext uri="{BB962C8B-B14F-4D97-AF65-F5344CB8AC3E}">
        <p14:creationId xmlns:p14="http://schemas.microsoft.com/office/powerpoint/2010/main" val="10959779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a:xfrm>
            <a:off x="594361" y="366631"/>
            <a:ext cx="7402285" cy="678833"/>
          </a:xfrm>
        </p:spPr>
        <p:txBody>
          <a:bodyPr vert="horz" lIns="91440" tIns="45720" rIns="91440" bIns="45720" rtlCol="0" anchor="ctr">
            <a:normAutofit/>
          </a:bodyPr>
          <a:lstStyle/>
          <a:p>
            <a:r>
              <a:rPr lang="en-US" u="sng">
                <a:solidFill>
                  <a:schemeClr val="tx1"/>
                </a:solidFill>
              </a:rPr>
              <a:t>Stage-1</a:t>
            </a:r>
            <a:r>
              <a:rPr lang="en-US" u="sng"/>
              <a:t> </a:t>
            </a:r>
          </a:p>
        </p:txBody>
      </p:sp>
      <p:sp>
        <p:nvSpPr>
          <p:cNvPr id="4" name="Text Placeholder 5" descr="2D Slides">
            <a:extLst>
              <a:ext uri="{FF2B5EF4-FFF2-40B4-BE49-F238E27FC236}">
                <a16:creationId xmlns:a16="http://schemas.microsoft.com/office/drawing/2014/main" id="{5D483DB7-3925-4129-9AB3-FF75028415D3}"/>
              </a:ext>
            </a:extLst>
          </p:cNvPr>
          <p:cNvSpPr txBox="1">
            <a:spLocks/>
          </p:cNvSpPr>
          <p:nvPr/>
        </p:nvSpPr>
        <p:spPr>
          <a:xfrm>
            <a:off x="592184" y="925871"/>
            <a:ext cx="7402285" cy="90917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spcBef>
                <a:spcPts val="0"/>
              </a:spcBef>
              <a:spcAft>
                <a:spcPts val="1000"/>
              </a:spcAft>
              <a:buClr>
                <a:schemeClr val="tx1"/>
              </a:buClr>
              <a:buSzPct val="100000"/>
              <a:buFont typeface="Arial"/>
              <a:buChar char="•"/>
            </a:pPr>
            <a:r>
              <a:rPr lang="en-US" u="sng"/>
              <a:t>Understanding and Preparing the Plan of the Project</a:t>
            </a:r>
          </a:p>
        </p:txBody>
      </p:sp>
      <p:sp>
        <p:nvSpPr>
          <p:cNvPr id="6" name="TextBox 2D 2">
            <a:extLst>
              <a:ext uri="{FF2B5EF4-FFF2-40B4-BE49-F238E27FC236}">
                <a16:creationId xmlns:a16="http://schemas.microsoft.com/office/drawing/2014/main" id="{F7E77654-B14A-463A-9892-AB5ABE4D5E5E}"/>
              </a:ext>
            </a:extLst>
          </p:cNvPr>
          <p:cNvSpPr txBox="1"/>
          <p:nvPr/>
        </p:nvSpPr>
        <p:spPr>
          <a:xfrm>
            <a:off x="685801" y="1928813"/>
            <a:ext cx="9613224" cy="4708981"/>
          </a:xfrm>
          <a:prstGeom prst="rect">
            <a:avLst/>
          </a:prstGeom>
          <a:noFill/>
        </p:spPr>
        <p:txBody>
          <a:bodyPr wrap="square" lIns="91440" tIns="45720" rIns="91440" bIns="45720" rtlCol="0">
            <a:spAutoFit/>
          </a:bodyPr>
          <a:lstStyle>
            <a:defPPr>
              <a:defRPr lang="en-US"/>
            </a:defPPr>
            <a:lvl1pPr>
              <a:defRPr sz="1200">
                <a:solidFill>
                  <a:schemeClr val="tx1">
                    <a:lumMod val="75000"/>
                    <a:lumOff val="25000"/>
                  </a:schemeClr>
                </a:solidFill>
                <a:latin typeface="Segoe UI" panose="020B0502040204020203" pitchFamily="34" charset="0"/>
                <a:cs typeface="Segoe UI" panose="020B0502040204020203" pitchFamily="34" charset="0"/>
              </a:defRPr>
            </a:lvl1pPr>
          </a:lstStyle>
          <a:p>
            <a:pPr marL="342900" indent="-342900">
              <a:spcAft>
                <a:spcPts val="600"/>
              </a:spcAft>
              <a:buFont typeface="Wingdings" panose="05000000000000000000" pitchFamily="2" charset="2"/>
              <a:buChar char="Ø"/>
            </a:pPr>
            <a:r>
              <a:rPr lang="en-US" sz="2000" b="1" u="sng" dirty="0">
                <a:latin typeface="Segoe UI"/>
                <a:cs typeface="Segoe UI"/>
              </a:rPr>
              <a:t>GOAL : </a:t>
            </a:r>
            <a:r>
              <a:rPr lang="en-US" sz="2000" dirty="0">
                <a:latin typeface="Segoe UI"/>
                <a:cs typeface="Segoe UI"/>
              </a:rPr>
              <a:t>Learn UART basics and Trojan concepts</a:t>
            </a:r>
            <a:endParaRPr lang="en-US" sz="2000" b="1" u="sng" dirty="0">
              <a:latin typeface="Segoe UI"/>
              <a:cs typeface="Segoe UI"/>
            </a:endParaRPr>
          </a:p>
          <a:p>
            <a:pPr marL="342900" indent="-342900">
              <a:spcAft>
                <a:spcPts val="600"/>
              </a:spcAft>
              <a:buFont typeface="Wingdings" panose="05000000000000000000" pitchFamily="2" charset="2"/>
              <a:buChar char="Ø"/>
            </a:pPr>
            <a:endParaRPr lang="en-US" sz="2000" dirty="0"/>
          </a:p>
          <a:p>
            <a:pPr>
              <a:spcAft>
                <a:spcPts val="600"/>
              </a:spcAft>
            </a:pPr>
            <a:r>
              <a:rPr lang="en-US" sz="2000" dirty="0">
                <a:latin typeface="Segoe UI"/>
                <a:cs typeface="Segoe UI"/>
              </a:rPr>
              <a:t>We had to choose two major aspects of our project:</a:t>
            </a:r>
            <a:endParaRPr lang="en-US" dirty="0">
              <a:latin typeface="Segoe UI"/>
              <a:cs typeface="Segoe UI"/>
            </a:endParaRPr>
          </a:p>
          <a:p>
            <a:pPr>
              <a:spcAft>
                <a:spcPts val="600"/>
              </a:spcAft>
            </a:pPr>
            <a:endParaRPr lang="en-US" sz="2000" dirty="0">
              <a:latin typeface="Segoe UI"/>
              <a:cs typeface="Segoe UI"/>
            </a:endParaRPr>
          </a:p>
          <a:p>
            <a:pPr>
              <a:spcAft>
                <a:spcPts val="600"/>
              </a:spcAft>
            </a:pPr>
            <a:r>
              <a:rPr lang="en-US" sz="2000" dirty="0">
                <a:latin typeface="Segoe UI"/>
                <a:cs typeface="Segoe UI"/>
              </a:rPr>
              <a:t>1) System Design: Designing a system that was simple enough to implement using our existing knowledge and the concepts we learned during the project, yet complex enough to incorporate Trojans that would not be directly detectable.</a:t>
            </a:r>
            <a:endParaRPr lang="en-US" dirty="0">
              <a:latin typeface="Segoe UI"/>
              <a:cs typeface="Segoe UI"/>
            </a:endParaRPr>
          </a:p>
          <a:p>
            <a:pPr>
              <a:spcAft>
                <a:spcPts val="600"/>
              </a:spcAft>
            </a:pPr>
            <a:endParaRPr lang="en-US" sz="2000" dirty="0">
              <a:latin typeface="Segoe UI"/>
              <a:cs typeface="Segoe UI"/>
            </a:endParaRPr>
          </a:p>
          <a:p>
            <a:pPr>
              <a:spcAft>
                <a:spcPts val="600"/>
              </a:spcAft>
            </a:pPr>
            <a:r>
              <a:rPr lang="en-US" sz="2000" dirty="0">
                <a:latin typeface="Segoe UI"/>
                <a:cs typeface="Segoe UI"/>
              </a:rPr>
              <a:t>2) Trojan Types and Detection Algorithm: Deciding which types of Trojans to inject into the system and developing an appropriate detection algorithm to identify them.</a:t>
            </a:r>
            <a:endParaRPr lang="en-US" dirty="0">
              <a:latin typeface="Segoe UI"/>
              <a:cs typeface="Segoe UI"/>
            </a:endParaRPr>
          </a:p>
          <a:p>
            <a:pPr>
              <a:spcAft>
                <a:spcPts val="600"/>
              </a:spcAft>
            </a:pPr>
            <a:endParaRPr lang="en-US" sz="2000" dirty="0"/>
          </a:p>
          <a:p>
            <a:pPr>
              <a:spcAft>
                <a:spcPts val="600"/>
              </a:spcAft>
            </a:pPr>
            <a:endParaRPr lang="en-US" sz="2000" dirty="0"/>
          </a:p>
        </p:txBody>
      </p:sp>
    </p:spTree>
    <p:extLst>
      <p:ext uri="{BB962C8B-B14F-4D97-AF65-F5344CB8AC3E}">
        <p14:creationId xmlns:p14="http://schemas.microsoft.com/office/powerpoint/2010/main" val="38551081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5D445F-049C-CDC3-0A90-B4D47385B426}"/>
              </a:ext>
            </a:extLst>
          </p:cNvPr>
          <p:cNvSpPr>
            <a:spLocks noGrp="1"/>
          </p:cNvSpPr>
          <p:nvPr>
            <p:ph type="title"/>
          </p:nvPr>
        </p:nvSpPr>
        <p:spPr>
          <a:xfrm>
            <a:off x="604434" y="1137559"/>
            <a:ext cx="10983132" cy="58832"/>
          </a:xfrm>
        </p:spPr>
        <p:txBody>
          <a:bodyPr>
            <a:normAutofit fontScale="90000"/>
          </a:bodyPr>
          <a:lstStyle/>
          <a:p>
            <a:r>
              <a:rPr lang="en-US" u="sng" dirty="0">
                <a:solidFill>
                  <a:srgbClr val="000000"/>
                </a:solidFill>
                <a:cs typeface="Segoe UI Light"/>
              </a:rPr>
              <a:t>Understanding and Preparing the Plan of the Project</a:t>
            </a:r>
          </a:p>
          <a:p>
            <a:endParaRPr lang="en-US" sz="2400" u="sng" dirty="0">
              <a:cs typeface="Segoe UI Light"/>
            </a:endParaRPr>
          </a:p>
        </p:txBody>
      </p:sp>
      <p:sp>
        <p:nvSpPr>
          <p:cNvPr id="2" name="Content Placeholder 1">
            <a:extLst>
              <a:ext uri="{FF2B5EF4-FFF2-40B4-BE49-F238E27FC236}">
                <a16:creationId xmlns:a16="http://schemas.microsoft.com/office/drawing/2014/main" id="{3F464C41-1859-7FBA-AF03-C667EE9476B3}"/>
              </a:ext>
            </a:extLst>
          </p:cNvPr>
          <p:cNvSpPr>
            <a:spLocks noGrp="1"/>
          </p:cNvSpPr>
          <p:nvPr>
            <p:ph idx="1"/>
          </p:nvPr>
        </p:nvSpPr>
        <p:spPr/>
        <p:txBody>
          <a:bodyPr vert="horz" lIns="91440" tIns="45720" rIns="91440" bIns="45720" rtlCol="0">
            <a:normAutofit fontScale="92500" lnSpcReduction="10000"/>
          </a:bodyPr>
          <a:lstStyle/>
          <a:p>
            <a:pPr>
              <a:lnSpc>
                <a:spcPct val="100000"/>
              </a:lnSpc>
              <a:spcBef>
                <a:spcPts val="0"/>
              </a:spcBef>
              <a:spcAft>
                <a:spcPts val="0"/>
              </a:spcAft>
              <a:buNone/>
            </a:pPr>
            <a:r>
              <a:rPr lang="en-US" sz="2000">
                <a:solidFill>
                  <a:schemeClr val="tx1">
                    <a:lumMod val="95000"/>
                    <a:lumOff val="5000"/>
                  </a:schemeClr>
                </a:solidFill>
                <a:cs typeface="Segoe UI"/>
              </a:rPr>
              <a:t>Upon exploring various systems in which we could implement trojans we ended up on a system which consisted of a transmitter and a receiver following UART protocol. We chose UART because:</a:t>
            </a:r>
          </a:p>
          <a:p>
            <a:pPr marL="342900" indent="-342900">
              <a:lnSpc>
                <a:spcPct val="100000"/>
              </a:lnSpc>
              <a:spcBef>
                <a:spcPts val="0"/>
              </a:spcBef>
              <a:spcAft>
                <a:spcPts val="0"/>
              </a:spcAft>
              <a:buFont typeface="Segoe UI,Sans-Serif"/>
              <a:buChar char=" "/>
            </a:pPr>
            <a:r>
              <a:rPr lang="en-IN" sz="2000">
                <a:solidFill>
                  <a:schemeClr val="tx1">
                    <a:lumMod val="95000"/>
                    <a:lumOff val="5000"/>
                  </a:schemeClr>
                </a:solidFill>
                <a:cs typeface="Segoe UI"/>
              </a:rPr>
              <a:t>Simple and understandable architecture</a:t>
            </a:r>
            <a:endParaRPr lang="en-US" sz="2000">
              <a:solidFill>
                <a:srgbClr val="000000"/>
              </a:solidFill>
              <a:cs typeface="Segoe UI"/>
            </a:endParaRPr>
          </a:p>
          <a:p>
            <a:pPr marL="342900" indent="-342900">
              <a:lnSpc>
                <a:spcPct val="100000"/>
              </a:lnSpc>
              <a:spcBef>
                <a:spcPts val="0"/>
              </a:spcBef>
              <a:spcAft>
                <a:spcPts val="0"/>
              </a:spcAft>
              <a:buFont typeface="Segoe UI"/>
              <a:buChar char=" "/>
            </a:pPr>
            <a:r>
              <a:rPr lang="en-IN" sz="2000">
                <a:solidFill>
                  <a:schemeClr val="tx1">
                    <a:lumMod val="95000"/>
                    <a:lumOff val="5000"/>
                  </a:schemeClr>
                </a:solidFill>
                <a:cs typeface="Segoe UI"/>
              </a:rPr>
              <a:t>Contains sequential RTL logic</a:t>
            </a:r>
            <a:endParaRPr lang="en-US" sz="2000">
              <a:solidFill>
                <a:schemeClr val="tx1">
                  <a:lumMod val="95000"/>
                  <a:lumOff val="5000"/>
                </a:schemeClr>
              </a:solidFill>
              <a:cs typeface="Segoe UI"/>
            </a:endParaRPr>
          </a:p>
          <a:p>
            <a:pPr marL="342900" indent="-342900">
              <a:lnSpc>
                <a:spcPct val="100000"/>
              </a:lnSpc>
              <a:spcBef>
                <a:spcPts val="0"/>
              </a:spcBef>
              <a:spcAft>
                <a:spcPts val="0"/>
              </a:spcAft>
              <a:buFont typeface="Segoe UI"/>
              <a:buChar char=" "/>
            </a:pPr>
            <a:r>
              <a:rPr lang="en-IN" sz="2000">
                <a:solidFill>
                  <a:schemeClr val="tx1">
                    <a:lumMod val="95000"/>
                    <a:lumOff val="5000"/>
                  </a:schemeClr>
                </a:solidFill>
                <a:cs typeface="Segoe UI"/>
              </a:rPr>
              <a:t>Easy to insert different Trojan triggers</a:t>
            </a:r>
            <a:endParaRPr lang="en-US" sz="2000">
              <a:solidFill>
                <a:schemeClr val="tx1">
                  <a:lumMod val="95000"/>
                  <a:lumOff val="5000"/>
                </a:schemeClr>
              </a:solidFill>
              <a:cs typeface="Segoe UI"/>
            </a:endParaRPr>
          </a:p>
          <a:p>
            <a:pPr marL="342900" indent="-342900">
              <a:lnSpc>
                <a:spcPct val="100000"/>
              </a:lnSpc>
              <a:spcBef>
                <a:spcPts val="0"/>
              </a:spcBef>
              <a:spcAft>
                <a:spcPts val="0"/>
              </a:spcAft>
              <a:buFont typeface="Segoe UI"/>
              <a:buChar char=" "/>
            </a:pPr>
            <a:r>
              <a:rPr lang="en-IN" sz="2000">
                <a:solidFill>
                  <a:schemeClr val="tx1">
                    <a:lumMod val="95000"/>
                    <a:lumOff val="5000"/>
                  </a:schemeClr>
                </a:solidFill>
                <a:cs typeface="Segoe UI"/>
              </a:rPr>
              <a:t>Supports rare-trigger experiments</a:t>
            </a:r>
            <a:endParaRPr lang="en-US" sz="2000">
              <a:solidFill>
                <a:schemeClr val="tx1">
                  <a:lumMod val="95000"/>
                  <a:lumOff val="5000"/>
                </a:schemeClr>
              </a:solidFill>
              <a:cs typeface="Segoe UI"/>
            </a:endParaRPr>
          </a:p>
          <a:p>
            <a:pPr marL="342900" indent="-342900">
              <a:lnSpc>
                <a:spcPct val="100000"/>
              </a:lnSpc>
              <a:spcBef>
                <a:spcPts val="0"/>
              </a:spcBef>
              <a:spcAft>
                <a:spcPts val="0"/>
              </a:spcAft>
              <a:buFont typeface="Segoe UI"/>
              <a:buChar char=" "/>
            </a:pPr>
            <a:r>
              <a:rPr lang="en-IN" sz="2000">
                <a:solidFill>
                  <a:schemeClr val="tx1">
                    <a:lumMod val="95000"/>
                    <a:lumOff val="5000"/>
                  </a:schemeClr>
                </a:solidFill>
                <a:cs typeface="Segoe UI"/>
              </a:rPr>
              <a:t>Observable outputs make functional testing straightforward</a:t>
            </a:r>
          </a:p>
          <a:p>
            <a:pPr marL="342900" indent="-342900">
              <a:lnSpc>
                <a:spcPct val="100000"/>
              </a:lnSpc>
              <a:spcBef>
                <a:spcPts val="0"/>
              </a:spcBef>
              <a:spcAft>
                <a:spcPts val="0"/>
              </a:spcAft>
              <a:buFont typeface="Segoe UI"/>
              <a:buChar char=" "/>
            </a:pPr>
            <a:endParaRPr lang="en-IN" sz="2000">
              <a:solidFill>
                <a:schemeClr val="tx1">
                  <a:lumMod val="95000"/>
                  <a:lumOff val="5000"/>
                </a:schemeClr>
              </a:solidFill>
              <a:cs typeface="Segoe UI"/>
            </a:endParaRPr>
          </a:p>
          <a:p>
            <a:pPr>
              <a:buNone/>
            </a:pPr>
            <a:r>
              <a:rPr lang="en-US" sz="2000">
                <a:solidFill>
                  <a:schemeClr val="tx1">
                    <a:lumMod val="95000"/>
                    <a:lumOff val="5000"/>
                  </a:schemeClr>
                </a:solidFill>
                <a:cs typeface="Segoe UI"/>
              </a:rPr>
              <a:t>The trojans which were selected for injection:</a:t>
            </a:r>
          </a:p>
          <a:p>
            <a:pPr marL="342900" indent="-342900">
              <a:lnSpc>
                <a:spcPct val="100000"/>
              </a:lnSpc>
              <a:spcBef>
                <a:spcPts val="0"/>
              </a:spcBef>
              <a:spcAft>
                <a:spcPts val="0"/>
              </a:spcAft>
              <a:buFont typeface="Segoe UI,Sans-Serif"/>
              <a:buChar char=" "/>
            </a:pPr>
            <a:r>
              <a:rPr lang="en-IN" sz="2000">
                <a:solidFill>
                  <a:schemeClr val="tx1">
                    <a:lumMod val="95000"/>
                    <a:lumOff val="5000"/>
                  </a:schemeClr>
                </a:solidFill>
                <a:cs typeface="Segoe UI"/>
              </a:rPr>
              <a:t>Sequential Trojans: Trojan activated when certain sequence of inputs were given</a:t>
            </a:r>
          </a:p>
          <a:p>
            <a:pPr marL="342900" indent="-342900">
              <a:lnSpc>
                <a:spcPct val="100000"/>
              </a:lnSpc>
              <a:spcBef>
                <a:spcPts val="0"/>
              </a:spcBef>
              <a:spcAft>
                <a:spcPts val="0"/>
              </a:spcAft>
              <a:buFont typeface="Segoe UI,Sans-Serif"/>
              <a:buChar char=" "/>
            </a:pPr>
            <a:r>
              <a:rPr lang="en-IN" sz="2000">
                <a:solidFill>
                  <a:schemeClr val="tx1">
                    <a:lumMod val="95000"/>
                    <a:lumOff val="5000"/>
                  </a:schemeClr>
                </a:solidFill>
                <a:cs typeface="Segoe UI"/>
              </a:rPr>
              <a:t>FSM Trojans: Trojans whose trigger is determined by its current state and current input</a:t>
            </a:r>
          </a:p>
          <a:p>
            <a:pPr>
              <a:buNone/>
            </a:pPr>
            <a:endParaRPr lang="en-US" sz="2000">
              <a:solidFill>
                <a:schemeClr val="tx1">
                  <a:lumMod val="95000"/>
                  <a:lumOff val="5000"/>
                </a:schemeClr>
              </a:solidFill>
              <a:cs typeface="Segoe UI"/>
            </a:endParaRPr>
          </a:p>
        </p:txBody>
      </p:sp>
    </p:spTree>
    <p:extLst>
      <p:ext uri="{BB962C8B-B14F-4D97-AF65-F5344CB8AC3E}">
        <p14:creationId xmlns:p14="http://schemas.microsoft.com/office/powerpoint/2010/main" val="20248946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AB49E1-195D-497A-BB31-2158958CA082}"/>
              </a:ext>
            </a:extLst>
          </p:cNvPr>
          <p:cNvSpPr>
            <a:spLocks noGrp="1"/>
          </p:cNvSpPr>
          <p:nvPr>
            <p:ph idx="1"/>
          </p:nvPr>
        </p:nvSpPr>
        <p:spPr>
          <a:xfrm>
            <a:off x="1090862" y="1507068"/>
            <a:ext cx="9918514" cy="559476"/>
          </a:xfrm>
        </p:spPr>
        <p:txBody>
          <a:bodyPr>
            <a:noAutofit/>
          </a:bodyPr>
          <a:lstStyle/>
          <a:p>
            <a:pPr lvl="0"/>
            <a:r>
              <a:rPr lang="en-US" sz="2200" b="1" u="sng"/>
              <a:t>Implementation of UART(</a:t>
            </a:r>
            <a:r>
              <a:rPr lang="en-IN" sz="2200" b="1" u="sng"/>
              <a:t>Universal Asynchronous Receiver/Transmitter</a:t>
            </a:r>
            <a:r>
              <a:rPr lang="en-IN" sz="2100" b="1" u="sng"/>
              <a:t>)</a:t>
            </a:r>
            <a:endParaRPr lang="en-US" sz="2100" b="1" u="sng"/>
          </a:p>
        </p:txBody>
      </p:sp>
      <p:sp>
        <p:nvSpPr>
          <p:cNvPr id="5" name="Content Placeholder 4">
            <a:extLst>
              <a:ext uri="{FF2B5EF4-FFF2-40B4-BE49-F238E27FC236}">
                <a16:creationId xmlns:a16="http://schemas.microsoft.com/office/drawing/2014/main" id="{EBF541F6-2C14-5AB4-A271-5BB71361F395}"/>
              </a:ext>
            </a:extLst>
          </p:cNvPr>
          <p:cNvSpPr>
            <a:spLocks noGrp="1"/>
          </p:cNvSpPr>
          <p:nvPr>
            <p:ph idx="13"/>
          </p:nvPr>
        </p:nvSpPr>
        <p:spPr>
          <a:xfrm>
            <a:off x="1325881" y="2652554"/>
            <a:ext cx="8421623" cy="3451342"/>
          </a:xfrm>
        </p:spPr>
        <p:txBody>
          <a:bodyPr>
            <a:normAutofit fontScale="85000" lnSpcReduction="20000"/>
          </a:bodyPr>
          <a:lstStyle/>
          <a:p>
            <a:pPr>
              <a:buNone/>
            </a:pPr>
            <a:r>
              <a:rPr lang="en-US" sz="2400" b="1" u="sng" dirty="0">
                <a:ea typeface="+mn-lt"/>
                <a:cs typeface="+mn-lt"/>
              </a:rPr>
              <a:t>GOAL : </a:t>
            </a:r>
            <a:r>
              <a:rPr lang="en-US" sz="2000" dirty="0">
                <a:ea typeface="+mn-lt"/>
                <a:cs typeface="+mn-lt"/>
              </a:rPr>
              <a:t>Build a functional UART system</a:t>
            </a:r>
            <a:endParaRPr lang="en-US" dirty="0">
              <a:ea typeface="+mn-lt"/>
              <a:cs typeface="+mn-lt"/>
            </a:endParaRPr>
          </a:p>
          <a:p>
            <a:pPr>
              <a:buFont typeface="Arial" panose="020B0502040204020203" pitchFamily="34" charset="0"/>
              <a:buChar char="•"/>
            </a:pPr>
            <a:r>
              <a:rPr lang="en-US" sz="2000" b="1" dirty="0">
                <a:ea typeface="+mn-lt"/>
                <a:cs typeface="+mn-lt"/>
              </a:rPr>
              <a:t>Activities:</a:t>
            </a:r>
            <a:endParaRPr lang="en-US" dirty="0">
              <a:cs typeface="Segoe UI"/>
            </a:endParaRPr>
          </a:p>
          <a:p>
            <a:pPr marL="342900" indent="-342900">
              <a:buFont typeface="Arial" panose="020B0502040204020203" pitchFamily="34" charset="0"/>
              <a:buChar char="•"/>
            </a:pPr>
            <a:r>
              <a:rPr lang="en-US" sz="2000" dirty="0">
                <a:ea typeface="+mn-lt"/>
                <a:cs typeface="+mn-lt"/>
              </a:rPr>
              <a:t>1)Implemented </a:t>
            </a:r>
            <a:r>
              <a:rPr lang="en-US" sz="2000" dirty="0">
                <a:latin typeface="Segoe UI"/>
                <a:cs typeface="Segoe UI"/>
              </a:rPr>
              <a:t>transmitter,</a:t>
            </a:r>
            <a:r>
              <a:rPr lang="en-US" sz="2000" dirty="0">
                <a:ea typeface="+mn-lt"/>
                <a:cs typeface="+mn-lt"/>
              </a:rPr>
              <a:t> receiver</a:t>
            </a:r>
            <a:r>
              <a:rPr lang="en-US" sz="2000" dirty="0">
                <a:latin typeface="Segoe UI"/>
                <a:cs typeface="Segoe UI"/>
              </a:rPr>
              <a:t> ,</a:t>
            </a:r>
            <a:r>
              <a:rPr lang="en-US" sz="2000" dirty="0">
                <a:ea typeface="+mn-lt"/>
                <a:cs typeface="+mn-lt"/>
              </a:rPr>
              <a:t> and top modules.</a:t>
            </a:r>
            <a:endParaRPr lang="en-US" sz="2000" dirty="0">
              <a:cs typeface="Segoe UI"/>
            </a:endParaRPr>
          </a:p>
          <a:p>
            <a:pPr marL="342900" indent="-342900">
              <a:buFont typeface="Arial" panose="020B0502040204020203" pitchFamily="34" charset="0"/>
              <a:buChar char="•"/>
            </a:pPr>
            <a:r>
              <a:rPr lang="en-US" sz="2000" dirty="0">
                <a:ea typeface="+mn-lt"/>
                <a:cs typeface="+mn-lt"/>
              </a:rPr>
              <a:t>2)Defined FSM states: IDLE, START, DATA, STOP.</a:t>
            </a:r>
          </a:p>
          <a:p>
            <a:pPr marL="342900" indent="-342900">
              <a:buFont typeface="Arial" panose="020B0502040204020203" pitchFamily="34" charset="0"/>
              <a:buChar char="•"/>
            </a:pPr>
            <a:r>
              <a:rPr lang="en-US" sz="2000" dirty="0">
                <a:ea typeface="+mn-lt"/>
                <a:cs typeface="+mn-lt"/>
              </a:rPr>
              <a:t>3)Added baud-rate counters and synchronizers.</a:t>
            </a:r>
            <a:endParaRPr lang="en-US" sz="2000" dirty="0">
              <a:cs typeface="Segoe UI"/>
            </a:endParaRPr>
          </a:p>
          <a:p>
            <a:pPr marL="342900" indent="-342900">
              <a:buFont typeface="Arial" panose="020B0502040204020203" pitchFamily="34" charset="0"/>
              <a:buChar char="•"/>
            </a:pPr>
            <a:r>
              <a:rPr lang="en-US" sz="2000" dirty="0">
                <a:ea typeface="+mn-lt"/>
                <a:cs typeface="+mn-lt"/>
              </a:rPr>
              <a:t>4)Verified functionality using a loopback testbench.</a:t>
            </a:r>
          </a:p>
          <a:p>
            <a:pPr>
              <a:buFont typeface="Arial" panose="020B0502040204020203" pitchFamily="34" charset="0"/>
              <a:buChar char="•"/>
            </a:pPr>
            <a:r>
              <a:rPr lang="en-US" sz="2000" b="1" dirty="0">
                <a:ea typeface="+mn-lt"/>
                <a:cs typeface="+mn-lt"/>
              </a:rPr>
              <a:t>Outcome:</a:t>
            </a:r>
            <a:r>
              <a:rPr lang="en-US" sz="2000" dirty="0">
                <a:ea typeface="+mn-lt"/>
                <a:cs typeface="+mn-lt"/>
              </a:rPr>
              <a:t> </a:t>
            </a:r>
            <a:r>
              <a:rPr lang="en-US" sz="2000" u="sng" dirty="0">
                <a:ea typeface="+mn-lt"/>
                <a:cs typeface="+mn-lt"/>
              </a:rPr>
              <a:t>Established a working UART baseline (Golden Reference).</a:t>
            </a:r>
            <a:endParaRPr lang="en-US" sz="2000" u="sng" dirty="0">
              <a:cs typeface="Segoe UI"/>
            </a:endParaRPr>
          </a:p>
          <a:p>
            <a:pPr marL="342900" indent="-342900">
              <a:buFont typeface="Arial" panose="020B0502040204020203" pitchFamily="34" charset="0"/>
              <a:buChar char="•"/>
            </a:pPr>
            <a:endParaRPr lang="en-US" sz="2000" dirty="0">
              <a:cs typeface="Segoe UI"/>
            </a:endParaRPr>
          </a:p>
          <a:p>
            <a:pPr marL="342900" indent="-342900">
              <a:buFont typeface="Arial" panose="020B0502040204020203" pitchFamily="34" charset="0"/>
              <a:buChar char="•"/>
            </a:pPr>
            <a:endParaRPr lang="en-IN" sz="2000" dirty="0">
              <a:cs typeface="Segoe UI"/>
            </a:endParaRPr>
          </a:p>
        </p:txBody>
      </p:sp>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p:txBody>
          <a:bodyPr/>
          <a:lstStyle/>
          <a:p>
            <a:r>
              <a:rPr lang="en-US" b="1" u="sng">
                <a:solidFill>
                  <a:schemeClr val="tx1"/>
                </a:solidFill>
              </a:rPr>
              <a:t>Stage-2</a:t>
            </a:r>
          </a:p>
        </p:txBody>
      </p:sp>
    </p:spTree>
    <p:extLst>
      <p:ext uri="{BB962C8B-B14F-4D97-AF65-F5344CB8AC3E}">
        <p14:creationId xmlns:p14="http://schemas.microsoft.com/office/powerpoint/2010/main" val="2251638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C89E-C85E-77DC-2530-C42A1DA57A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8F2C26-7CAB-4DB2-7CBB-941587E85AFE}"/>
              </a:ext>
            </a:extLst>
          </p:cNvPr>
          <p:cNvSpPr>
            <a:spLocks noGrp="1"/>
          </p:cNvSpPr>
          <p:nvPr>
            <p:ph idx="1"/>
          </p:nvPr>
        </p:nvSpPr>
        <p:spPr>
          <a:xfrm>
            <a:off x="1090862" y="1507068"/>
            <a:ext cx="9918514" cy="559476"/>
          </a:xfrm>
        </p:spPr>
        <p:txBody>
          <a:bodyPr>
            <a:noAutofit/>
          </a:bodyPr>
          <a:lstStyle/>
          <a:p>
            <a:pPr lvl="0"/>
            <a:r>
              <a:rPr lang="en-US" sz="2200" b="1" u="sng"/>
              <a:t>Implementation of UART(</a:t>
            </a:r>
            <a:r>
              <a:rPr lang="en-IN" sz="2200" b="1" u="sng"/>
              <a:t>Universal Asynchronous Receiver/Transmitter</a:t>
            </a:r>
            <a:r>
              <a:rPr lang="en-IN" sz="2100" b="1" u="sng"/>
              <a:t>)</a:t>
            </a:r>
            <a:endParaRPr lang="en-US" sz="2100" b="1" u="sng"/>
          </a:p>
        </p:txBody>
      </p:sp>
      <p:sp>
        <p:nvSpPr>
          <p:cNvPr id="5" name="Content Placeholder 4">
            <a:extLst>
              <a:ext uri="{FF2B5EF4-FFF2-40B4-BE49-F238E27FC236}">
                <a16:creationId xmlns:a16="http://schemas.microsoft.com/office/drawing/2014/main" id="{0C999E6A-8DD1-7239-290C-99DD6F3AD60E}"/>
              </a:ext>
            </a:extLst>
          </p:cNvPr>
          <p:cNvSpPr>
            <a:spLocks noGrp="1"/>
          </p:cNvSpPr>
          <p:nvPr>
            <p:ph idx="13"/>
          </p:nvPr>
        </p:nvSpPr>
        <p:spPr>
          <a:xfrm>
            <a:off x="1325881" y="2203704"/>
            <a:ext cx="8421623" cy="3973260"/>
          </a:xfrm>
        </p:spPr>
        <p:txBody>
          <a:bodyPr>
            <a:normAutofit fontScale="92500" lnSpcReduction="20000"/>
          </a:bodyPr>
          <a:lstStyle/>
          <a:p>
            <a:pPr marL="342900" indent="-342900">
              <a:buAutoNum type="arabicParenR"/>
            </a:pPr>
            <a:r>
              <a:rPr lang="en-US" sz="2000" b="1" u="sng"/>
              <a:t>Difficulties faced:</a:t>
            </a:r>
            <a:endParaRPr lang="en-US" sz="2000" b="1" u="sng">
              <a:cs typeface="Segoe UI"/>
            </a:endParaRPr>
          </a:p>
          <a:p>
            <a:pPr algn="just">
              <a:buNone/>
            </a:pPr>
            <a:r>
              <a:rPr lang="en-IN" sz="2000"/>
              <a:t>1)We had to understand the various specific syntax to troubleshoot the code.</a:t>
            </a:r>
            <a:endParaRPr lang="en-IN" sz="2000">
              <a:cs typeface="Segoe UI"/>
            </a:endParaRPr>
          </a:p>
          <a:p>
            <a:pPr algn="just">
              <a:buNone/>
            </a:pPr>
            <a:r>
              <a:rPr lang="en-IN" sz="2000"/>
              <a:t> 2)Meta stability in receiver module:</a:t>
            </a:r>
            <a:r>
              <a:rPr lang="en-IN" sz="2000">
                <a:ea typeface="+mn-lt"/>
                <a:cs typeface="+mn-lt"/>
              </a:rPr>
              <a:t> When a signal changes at the wrong time, a flip-flop may temporarily produce an unpredictable output instead of a clear 0 or 1.</a:t>
            </a:r>
          </a:p>
          <a:p>
            <a:pPr algn="just">
              <a:buNone/>
            </a:pPr>
            <a:r>
              <a:rPr lang="en-IN" sz="2000"/>
              <a:t>3)We had to reset the whole transmitter even when it was not in sync with the clock.</a:t>
            </a:r>
            <a:endParaRPr lang="en-IN">
              <a:cs typeface="Segoe UI"/>
            </a:endParaRPr>
          </a:p>
          <a:p>
            <a:pPr algn="just">
              <a:buNone/>
            </a:pPr>
            <a:r>
              <a:rPr lang="en-IN" sz="2000"/>
              <a:t> 4)We had to be careful about which edge of the clock cycle we were using to ensure synchronisation of parallel components and no race condition of series components.</a:t>
            </a:r>
            <a:endParaRPr lang="en-IN" sz="2000">
              <a:cs typeface="Segoe UI"/>
            </a:endParaRPr>
          </a:p>
        </p:txBody>
      </p:sp>
      <p:sp>
        <p:nvSpPr>
          <p:cNvPr id="4" name="Title 3">
            <a:extLst>
              <a:ext uri="{FF2B5EF4-FFF2-40B4-BE49-F238E27FC236}">
                <a16:creationId xmlns:a16="http://schemas.microsoft.com/office/drawing/2014/main" id="{36B4F9C2-FCDE-C15F-8FEB-EA716C9DB0E7}"/>
              </a:ext>
            </a:extLst>
          </p:cNvPr>
          <p:cNvSpPr>
            <a:spLocks noGrp="1"/>
          </p:cNvSpPr>
          <p:nvPr>
            <p:ph type="title"/>
          </p:nvPr>
        </p:nvSpPr>
        <p:spPr/>
        <p:txBody>
          <a:bodyPr/>
          <a:lstStyle/>
          <a:p>
            <a:r>
              <a:rPr lang="en-US" b="1" u="sng">
                <a:solidFill>
                  <a:schemeClr val="tx1"/>
                </a:solidFill>
              </a:rPr>
              <a:t>Stage-2</a:t>
            </a:r>
          </a:p>
        </p:txBody>
      </p:sp>
    </p:spTree>
    <p:extLst>
      <p:ext uri="{BB962C8B-B14F-4D97-AF65-F5344CB8AC3E}">
        <p14:creationId xmlns:p14="http://schemas.microsoft.com/office/powerpoint/2010/main" val="15255309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FD1D-888B-EAFD-DDA6-11017ACFEC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1DE1D4-49D9-4F51-7C8D-5B295271E6AC}"/>
              </a:ext>
            </a:extLst>
          </p:cNvPr>
          <p:cNvSpPr>
            <a:spLocks noGrp="1"/>
          </p:cNvSpPr>
          <p:nvPr>
            <p:ph idx="1"/>
          </p:nvPr>
        </p:nvSpPr>
        <p:spPr>
          <a:xfrm>
            <a:off x="1090862" y="1507068"/>
            <a:ext cx="9918514" cy="559476"/>
          </a:xfrm>
        </p:spPr>
        <p:txBody>
          <a:bodyPr>
            <a:noAutofit/>
          </a:bodyPr>
          <a:lstStyle/>
          <a:p>
            <a:pPr lvl="0"/>
            <a:r>
              <a:rPr lang="en-US" sz="2100" b="1" u="sng"/>
              <a:t>Resources we used until this stage:</a:t>
            </a:r>
          </a:p>
        </p:txBody>
      </p:sp>
      <p:sp>
        <p:nvSpPr>
          <p:cNvPr id="5" name="Content Placeholder 4">
            <a:extLst>
              <a:ext uri="{FF2B5EF4-FFF2-40B4-BE49-F238E27FC236}">
                <a16:creationId xmlns:a16="http://schemas.microsoft.com/office/drawing/2014/main" id="{87B016E5-B4A3-5AF0-81EB-8CD766EDBC5D}"/>
              </a:ext>
            </a:extLst>
          </p:cNvPr>
          <p:cNvSpPr>
            <a:spLocks noGrp="1"/>
          </p:cNvSpPr>
          <p:nvPr>
            <p:ph idx="13"/>
          </p:nvPr>
        </p:nvSpPr>
        <p:spPr>
          <a:xfrm>
            <a:off x="1325881" y="2203704"/>
            <a:ext cx="8421623" cy="3973260"/>
          </a:xfrm>
        </p:spPr>
        <p:txBody>
          <a:bodyPr>
            <a:normAutofit/>
          </a:bodyPr>
          <a:lstStyle/>
          <a:p>
            <a:pPr marL="342900" indent="-342900"/>
            <a:r>
              <a:rPr lang="en-US" sz="2000" u="sng"/>
              <a:t>Sources: </a:t>
            </a:r>
            <a:endParaRPr lang="en-US" sz="2000" u="sng">
              <a:cs typeface="Segoe UI"/>
            </a:endParaRPr>
          </a:p>
          <a:p>
            <a:pPr marL="342900" indent="-342900"/>
            <a:r>
              <a:rPr lang="en-IN" sz="2000"/>
              <a:t>1)Class Lectures PPT for Verilog syntax</a:t>
            </a:r>
            <a:endParaRPr lang="en-IN" sz="2000">
              <a:cs typeface="Segoe UI"/>
            </a:endParaRPr>
          </a:p>
          <a:p>
            <a:pPr marL="342900" indent="-342900"/>
            <a:r>
              <a:rPr lang="en-IN" sz="2000"/>
              <a:t>2)NandLand UART Serial Port Module – Nandland Got ideas to implement the basic UART </a:t>
            </a:r>
            <a:endParaRPr lang="en-IN" sz="2000">
              <a:cs typeface="Segoe UI"/>
            </a:endParaRPr>
          </a:p>
          <a:p>
            <a:pPr marL="342900" indent="-342900"/>
            <a:r>
              <a:rPr lang="en-IN" sz="2000"/>
              <a:t>3)LLM : Debugging </a:t>
            </a:r>
          </a:p>
          <a:p>
            <a:pPr marL="342900" indent="-342900"/>
            <a:r>
              <a:rPr lang="en-IN" sz="2000"/>
              <a:t>4)YouTube videos: For understanding syntax in Verilog</a:t>
            </a:r>
            <a:endParaRPr lang="en-IN" sz="2000">
              <a:cs typeface="Segoe UI"/>
            </a:endParaRPr>
          </a:p>
          <a:p>
            <a:pPr marL="342900" indent="-342900"/>
            <a:r>
              <a:rPr lang="en-IN" sz="2000">
                <a:hlinkClick r:id="rId2"/>
              </a:rPr>
              <a:t>https://www.youtube.com/watch?v=YUB-OyGr1oA</a:t>
            </a:r>
            <a:endParaRPr lang="en-IN" sz="2000"/>
          </a:p>
          <a:p>
            <a:pPr marL="342900" indent="-342900"/>
            <a:endParaRPr lang="en-IN" sz="2000"/>
          </a:p>
        </p:txBody>
      </p:sp>
      <p:sp>
        <p:nvSpPr>
          <p:cNvPr id="4" name="Title 3">
            <a:extLst>
              <a:ext uri="{FF2B5EF4-FFF2-40B4-BE49-F238E27FC236}">
                <a16:creationId xmlns:a16="http://schemas.microsoft.com/office/drawing/2014/main" id="{9B5F3AD4-8B25-AA49-4BA8-A7ABE4062DEC}"/>
              </a:ext>
            </a:extLst>
          </p:cNvPr>
          <p:cNvSpPr>
            <a:spLocks noGrp="1"/>
          </p:cNvSpPr>
          <p:nvPr>
            <p:ph type="title"/>
          </p:nvPr>
        </p:nvSpPr>
        <p:spPr/>
        <p:txBody>
          <a:bodyPr/>
          <a:lstStyle/>
          <a:p>
            <a:r>
              <a:rPr lang="en-US" b="1" u="sng">
                <a:solidFill>
                  <a:schemeClr val="tx1"/>
                </a:solidFill>
              </a:rPr>
              <a:t>Stage-2</a:t>
            </a:r>
          </a:p>
        </p:txBody>
      </p:sp>
    </p:spTree>
    <p:extLst>
      <p:ext uri="{BB962C8B-B14F-4D97-AF65-F5344CB8AC3E}">
        <p14:creationId xmlns:p14="http://schemas.microsoft.com/office/powerpoint/2010/main" val="21699244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83D2B2-24CC-41A1-8AC3-EDF2DA2C3A20}"/>
              </a:ext>
            </a:extLst>
          </p:cNvPr>
          <p:cNvSpPr>
            <a:spLocks noGrp="1"/>
          </p:cNvSpPr>
          <p:nvPr>
            <p:ph type="title"/>
          </p:nvPr>
        </p:nvSpPr>
        <p:spPr>
          <a:xfrm>
            <a:off x="533399" y="623169"/>
            <a:ext cx="11125201" cy="746759"/>
          </a:xfrm>
        </p:spPr>
        <p:txBody>
          <a:bodyPr>
            <a:normAutofit fontScale="90000"/>
          </a:bodyPr>
          <a:lstStyle/>
          <a:p>
            <a:r>
              <a:rPr lang="en-US" b="1" u="sng">
                <a:solidFill>
                  <a:schemeClr val="tx1"/>
                </a:solidFill>
              </a:rPr>
              <a:t>Stage-3 (Construction of trojans and their detection)</a:t>
            </a:r>
          </a:p>
        </p:txBody>
      </p:sp>
      <p:sp>
        <p:nvSpPr>
          <p:cNvPr id="2" name="Content Placeholder 1">
            <a:extLst>
              <a:ext uri="{FF2B5EF4-FFF2-40B4-BE49-F238E27FC236}">
                <a16:creationId xmlns:a16="http://schemas.microsoft.com/office/drawing/2014/main" id="{0E85CDB0-AD30-4DBB-AC55-D824F09CE209}"/>
              </a:ext>
            </a:extLst>
          </p:cNvPr>
          <p:cNvSpPr>
            <a:spLocks noGrp="1"/>
          </p:cNvSpPr>
          <p:nvPr>
            <p:ph idx="1"/>
          </p:nvPr>
        </p:nvSpPr>
        <p:spPr>
          <a:xfrm>
            <a:off x="604434" y="1381329"/>
            <a:ext cx="10240350" cy="5028042"/>
          </a:xfrm>
        </p:spPr>
        <p:txBody>
          <a:bodyPr vert="horz" lIns="91440" tIns="45720" rIns="91440" bIns="45720" rtlCol="0">
            <a:normAutofit/>
          </a:bodyPr>
          <a:lstStyle/>
          <a:p>
            <a:r>
              <a:rPr lang="en-US" sz="2000" b="1" u="sng"/>
              <a:t>GOAL </a:t>
            </a:r>
            <a:r>
              <a:rPr lang="en-US" sz="2000"/>
              <a:t>: Insert trojans and test detectability</a:t>
            </a:r>
          </a:p>
          <a:p>
            <a:r>
              <a:rPr lang="en-US" sz="2000" b="1" u="sng"/>
              <a:t>Trojan types </a:t>
            </a:r>
            <a:r>
              <a:rPr lang="en-US" sz="2000"/>
              <a:t>:</a:t>
            </a:r>
          </a:p>
          <a:p>
            <a:r>
              <a:rPr lang="en-US" sz="2000"/>
              <a:t> 1)Single byte trigger</a:t>
            </a:r>
            <a:endParaRPr lang="en-US"/>
          </a:p>
          <a:p>
            <a:r>
              <a:rPr lang="en-US" sz="2000"/>
              <a:t>2)Two-byte sequence trigger</a:t>
            </a:r>
            <a:endParaRPr lang="en-US" sz="2000">
              <a:cs typeface="Segoe UI"/>
            </a:endParaRPr>
          </a:p>
          <a:p>
            <a:r>
              <a:rPr lang="en-US" sz="2000"/>
              <a:t>3)Four-byte sequence trigger</a:t>
            </a:r>
            <a:endParaRPr lang="en-US" sz="2000">
              <a:cs typeface="Segoe UI"/>
            </a:endParaRPr>
          </a:p>
          <a:p>
            <a:r>
              <a:rPr lang="en-US" sz="2000"/>
              <a:t>4)Side effect trojan</a:t>
            </a:r>
          </a:p>
          <a:p>
            <a:r>
              <a:rPr lang="en-US" sz="2000" b="1" u="sng">
                <a:cs typeface="Segoe UI"/>
              </a:rPr>
              <a:t>Payloads </a:t>
            </a:r>
            <a:r>
              <a:rPr lang="en-US" sz="2000">
                <a:cs typeface="Segoe UI"/>
              </a:rPr>
              <a:t>: </a:t>
            </a:r>
          </a:p>
          <a:p>
            <a:r>
              <a:rPr lang="en-US" sz="2000">
                <a:cs typeface="Segoe UI"/>
              </a:rPr>
              <a:t>1)Payload A (Visible-Bit flip in output)</a:t>
            </a:r>
            <a:endParaRPr lang="en-US">
              <a:cs typeface="Segoe UI"/>
            </a:endParaRPr>
          </a:p>
          <a:p>
            <a:r>
              <a:rPr lang="en-US" sz="2000">
                <a:cs typeface="Segoe UI"/>
              </a:rPr>
              <a:t>2)Payload B (Stealthy-No change in output. Internal change register change)</a:t>
            </a:r>
          </a:p>
          <a:p>
            <a:endParaRPr lang="en-US" sz="2000"/>
          </a:p>
        </p:txBody>
      </p:sp>
      <p:sp>
        <p:nvSpPr>
          <p:cNvPr id="11" name="TextBox 10">
            <a:extLst>
              <a:ext uri="{FF2B5EF4-FFF2-40B4-BE49-F238E27FC236}">
                <a16:creationId xmlns:a16="http://schemas.microsoft.com/office/drawing/2014/main" id="{F753FEA0-662F-4928-0853-B8A29D6BD6AE}"/>
              </a:ext>
            </a:extLst>
          </p:cNvPr>
          <p:cNvSpPr txBox="1"/>
          <p:nvPr/>
        </p:nvSpPr>
        <p:spPr>
          <a:xfrm>
            <a:off x="844472" y="1369928"/>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B18032D9-0601-D9EE-92E9-FE87A9E7173E}"/>
              </a:ext>
            </a:extLst>
          </p:cNvPr>
          <p:cNvSpPr txBox="1"/>
          <p:nvPr/>
        </p:nvSpPr>
        <p:spPr>
          <a:xfrm>
            <a:off x="3172968" y="1563624"/>
            <a:ext cx="0" cy="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974390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8DC26-51A9-3664-61D7-20CC96F3D6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0B1590-3D6F-2486-0CAC-355DCE4548D0}"/>
              </a:ext>
            </a:extLst>
          </p:cNvPr>
          <p:cNvSpPr>
            <a:spLocks noGrp="1"/>
          </p:cNvSpPr>
          <p:nvPr>
            <p:ph type="title"/>
          </p:nvPr>
        </p:nvSpPr>
        <p:spPr>
          <a:xfrm>
            <a:off x="533396" y="643575"/>
            <a:ext cx="11125201" cy="746759"/>
          </a:xfrm>
        </p:spPr>
        <p:txBody>
          <a:bodyPr>
            <a:normAutofit fontScale="90000"/>
          </a:bodyPr>
          <a:lstStyle/>
          <a:p>
            <a:r>
              <a:rPr lang="en-US" b="1" u="sng">
                <a:solidFill>
                  <a:schemeClr val="tx1"/>
                </a:solidFill>
              </a:rPr>
              <a:t>Stage-3 (Construction of trojans and their detection)</a:t>
            </a:r>
          </a:p>
        </p:txBody>
      </p:sp>
      <p:sp>
        <p:nvSpPr>
          <p:cNvPr id="2" name="Content Placeholder 1">
            <a:extLst>
              <a:ext uri="{FF2B5EF4-FFF2-40B4-BE49-F238E27FC236}">
                <a16:creationId xmlns:a16="http://schemas.microsoft.com/office/drawing/2014/main" id="{50BFD616-9700-42C8-9245-B72D63C891E4}"/>
              </a:ext>
            </a:extLst>
          </p:cNvPr>
          <p:cNvSpPr>
            <a:spLocks noGrp="1"/>
          </p:cNvSpPr>
          <p:nvPr>
            <p:ph idx="1"/>
          </p:nvPr>
        </p:nvSpPr>
        <p:spPr>
          <a:xfrm>
            <a:off x="606785" y="1390334"/>
            <a:ext cx="10978425" cy="5257685"/>
          </a:xfrm>
        </p:spPr>
        <p:txBody>
          <a:bodyPr vert="horz" lIns="91440" tIns="45720" rIns="91440" bIns="45720" rtlCol="0" anchor="t">
            <a:normAutofit/>
          </a:bodyPr>
          <a:lstStyle/>
          <a:p>
            <a:pPr>
              <a:buNone/>
            </a:pPr>
            <a:r>
              <a:rPr lang="en-US" sz="2000" b="1" u="sng">
                <a:cs typeface="Segoe UI"/>
              </a:rPr>
              <a:t>Testbench &amp;Verification</a:t>
            </a:r>
          </a:p>
          <a:p>
            <a:pPr>
              <a:buNone/>
            </a:pPr>
            <a:r>
              <a:rPr lang="en-US" sz="2000" b="1">
                <a:cs typeface="Segoe UI"/>
              </a:rPr>
              <a:t>Four Phases of Testing:</a:t>
            </a:r>
          </a:p>
          <a:p>
            <a:pPr>
              <a:buNone/>
            </a:pPr>
            <a:r>
              <a:rPr lang="en-US" sz="2000">
                <a:cs typeface="Segoe UI"/>
              </a:rPr>
              <a:t> 1)Exhaustive sweep(0-255bytes)</a:t>
            </a:r>
          </a:p>
          <a:p>
            <a:pPr>
              <a:buNone/>
            </a:pPr>
            <a:r>
              <a:rPr lang="en-US" sz="2000">
                <a:cs typeface="Segoe UI"/>
              </a:rPr>
              <a:t> 2)Pseudo-random stream</a:t>
            </a:r>
          </a:p>
          <a:p>
            <a:pPr>
              <a:buNone/>
            </a:pPr>
            <a:r>
              <a:rPr lang="en-US" sz="2000">
                <a:cs typeface="Segoe UI"/>
              </a:rPr>
              <a:t> 3)Near-Trojan sequences</a:t>
            </a:r>
            <a:endParaRPr lang="en-US"/>
          </a:p>
          <a:p>
            <a:pPr>
              <a:buNone/>
            </a:pPr>
            <a:r>
              <a:rPr lang="en-US" sz="2000">
                <a:cs typeface="Segoe UI"/>
              </a:rPr>
              <a:t> 4)Directed Trojan activation</a:t>
            </a:r>
          </a:p>
          <a:p>
            <a:pPr>
              <a:buNone/>
            </a:pPr>
            <a:r>
              <a:rPr lang="en-US" sz="2000" b="1">
                <a:cs typeface="Segoe UI"/>
              </a:rPr>
              <a:t>Automatic:</a:t>
            </a:r>
            <a:r>
              <a:rPr lang="en-US" sz="2000">
                <a:cs typeface="Segoe UI"/>
              </a:rPr>
              <a:t> Self-checking golden model , timeout counters, per-section summaries</a:t>
            </a:r>
          </a:p>
          <a:p>
            <a:pPr marL="342900" indent="-342900">
              <a:buFont typeface="Wingdings" panose="020B0502040204020203" pitchFamily="34" charset="0"/>
              <a:buChar char="v"/>
            </a:pPr>
            <a:r>
              <a:rPr lang="en-US" sz="2000">
                <a:cs typeface="Segoe UI"/>
              </a:rPr>
              <a:t>Tools :</a:t>
            </a:r>
          </a:p>
          <a:p>
            <a:pPr marL="342900" indent="-342900">
              <a:buFont typeface="Wingdings" panose="020B0502040204020203" pitchFamily="34" charset="0"/>
              <a:buChar char="v"/>
            </a:pPr>
            <a:r>
              <a:rPr lang="en-US" sz="2000">
                <a:cs typeface="Segoe UI"/>
              </a:rPr>
              <a:t>1) </a:t>
            </a:r>
            <a:r>
              <a:rPr lang="en-US" sz="2000">
                <a:ea typeface="+mn-lt"/>
                <a:cs typeface="+mn-lt"/>
              </a:rPr>
              <a:t>Verilog/ SystemVerilog</a:t>
            </a:r>
          </a:p>
          <a:p>
            <a:pPr marL="342900" indent="-342900">
              <a:buFont typeface="Wingdings" panose="020B0502040204020203" pitchFamily="34" charset="0"/>
              <a:buChar char="v"/>
            </a:pPr>
            <a:r>
              <a:rPr lang="en-US" sz="2000">
                <a:ea typeface="+mn-lt"/>
                <a:cs typeface="+mn-lt"/>
              </a:rPr>
              <a:t>2)Icarus Verilog / Verilator</a:t>
            </a:r>
          </a:p>
          <a:p>
            <a:pPr marL="342900" indent="-342900">
              <a:buFont typeface="Wingdings" panose="020B0502040204020203" pitchFamily="34" charset="0"/>
              <a:buChar char="v"/>
            </a:pPr>
            <a:r>
              <a:rPr lang="en-US" sz="2000">
                <a:ea typeface="+mn-lt"/>
                <a:cs typeface="+mn-lt"/>
              </a:rPr>
              <a:t>3)GTKWave / EPWave</a:t>
            </a:r>
          </a:p>
        </p:txBody>
      </p:sp>
      <p:sp>
        <p:nvSpPr>
          <p:cNvPr id="11" name="TextBox 10">
            <a:extLst>
              <a:ext uri="{FF2B5EF4-FFF2-40B4-BE49-F238E27FC236}">
                <a16:creationId xmlns:a16="http://schemas.microsoft.com/office/drawing/2014/main" id="{6E783748-6D68-A813-333C-3432F6A8E33A}"/>
              </a:ext>
            </a:extLst>
          </p:cNvPr>
          <p:cNvSpPr txBox="1"/>
          <p:nvPr/>
        </p:nvSpPr>
        <p:spPr>
          <a:xfrm>
            <a:off x="844472" y="1369928"/>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74335F1E-4764-7652-4803-730061FC3FBA}"/>
              </a:ext>
            </a:extLst>
          </p:cNvPr>
          <p:cNvSpPr txBox="1"/>
          <p:nvPr/>
        </p:nvSpPr>
        <p:spPr>
          <a:xfrm>
            <a:off x="3172968" y="1563624"/>
            <a:ext cx="0" cy="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097667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7E2E-A037-AB33-D59D-F6F9E82488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3D8977-9317-9173-E8DA-2BE4CF4B6FDC}"/>
              </a:ext>
            </a:extLst>
          </p:cNvPr>
          <p:cNvSpPr>
            <a:spLocks noGrp="1"/>
          </p:cNvSpPr>
          <p:nvPr>
            <p:ph type="title"/>
          </p:nvPr>
        </p:nvSpPr>
        <p:spPr>
          <a:xfrm>
            <a:off x="533334" y="687771"/>
            <a:ext cx="11125201" cy="746759"/>
          </a:xfrm>
        </p:spPr>
        <p:txBody>
          <a:bodyPr>
            <a:normAutofit fontScale="90000"/>
          </a:bodyPr>
          <a:lstStyle/>
          <a:p>
            <a:r>
              <a:rPr lang="en-US" b="1" u="sng">
                <a:solidFill>
                  <a:schemeClr val="tx1"/>
                </a:solidFill>
              </a:rPr>
              <a:t>Stage-3 (Construction of trojans and their detection)</a:t>
            </a:r>
          </a:p>
        </p:txBody>
      </p:sp>
      <p:sp>
        <p:nvSpPr>
          <p:cNvPr id="11" name="TextBox 10">
            <a:extLst>
              <a:ext uri="{FF2B5EF4-FFF2-40B4-BE49-F238E27FC236}">
                <a16:creationId xmlns:a16="http://schemas.microsoft.com/office/drawing/2014/main" id="{E4A3A756-271D-9469-10C6-F92E308D882A}"/>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6B0D4467-C1DE-EDED-9EE4-03F0520B8883}"/>
              </a:ext>
            </a:extLst>
          </p:cNvPr>
          <p:cNvSpPr txBox="1"/>
          <p:nvPr/>
        </p:nvSpPr>
        <p:spPr>
          <a:xfrm>
            <a:off x="3172968" y="1563624"/>
            <a:ext cx="0" cy="0"/>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CE0E6AA7-6566-FEE9-2010-217AAA07D62E}"/>
              </a:ext>
            </a:extLst>
          </p:cNvPr>
          <p:cNvSpPr txBox="1"/>
          <p:nvPr/>
        </p:nvSpPr>
        <p:spPr>
          <a:xfrm>
            <a:off x="315579" y="1565467"/>
            <a:ext cx="11560712"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2"/>
            <a:r>
              <a:rPr lang="en-US" sz="2000" b="1" u="sng">
                <a:solidFill>
                  <a:prstClr val="black">
                    <a:lumMod val="75000"/>
                    <a:lumOff val="25000"/>
                  </a:prstClr>
                </a:solidFill>
                <a:ea typeface="+mn-lt"/>
                <a:cs typeface="+mn-lt"/>
              </a:rPr>
              <a:t>Results &amp; Detection Percentages</a:t>
            </a:r>
          </a:p>
          <a:p>
            <a:pPr lvl="2"/>
            <a:endParaRPr lang="en-US" sz="2000" b="1" u="sng">
              <a:solidFill>
                <a:prstClr val="black">
                  <a:lumMod val="75000"/>
                  <a:lumOff val="25000"/>
                </a:prstClr>
              </a:solidFill>
              <a:ea typeface="+mn-lt"/>
              <a:cs typeface="+mn-lt"/>
            </a:endParaRPr>
          </a:p>
          <a:p>
            <a:pPr marL="285750" indent="-285750">
              <a:buFont typeface="Arial"/>
              <a:buChar char="•"/>
            </a:pPr>
            <a:r>
              <a:rPr lang="en-US" b="1">
                <a:solidFill>
                  <a:prstClr val="black">
                    <a:lumMod val="75000"/>
                    <a:lumOff val="25000"/>
                  </a:prstClr>
                </a:solidFill>
                <a:ea typeface="+mn-lt"/>
                <a:cs typeface="+mn-lt"/>
              </a:rPr>
              <a:t>Exhaustive inputs:</a:t>
            </a:r>
            <a:r>
              <a:rPr lang="en-US">
                <a:solidFill>
                  <a:prstClr val="black">
                    <a:lumMod val="75000"/>
                    <a:lumOff val="25000"/>
                  </a:prstClr>
                </a:solidFill>
                <a:ea typeface="+mn-lt"/>
                <a:cs typeface="+mn-lt"/>
              </a:rPr>
              <a:t> 99.61% pass, Trojan detection ~0.39%</a:t>
            </a:r>
            <a:endParaRPr lang="en-US">
              <a:solidFill>
                <a:prstClr val="black">
                  <a:lumMod val="75000"/>
                  <a:lumOff val="25000"/>
                </a:prstClr>
              </a:solidFill>
              <a:cs typeface="Segoe UI"/>
            </a:endParaRPr>
          </a:p>
          <a:p>
            <a:pPr marL="285750" indent="-285750">
              <a:buFont typeface="Arial"/>
              <a:buChar char="•"/>
            </a:pPr>
            <a:r>
              <a:rPr lang="en-US" b="1">
                <a:solidFill>
                  <a:prstClr val="black">
                    <a:lumMod val="75000"/>
                    <a:lumOff val="25000"/>
                  </a:prstClr>
                </a:solidFill>
                <a:ea typeface="+mn-lt"/>
                <a:cs typeface="+mn-lt"/>
              </a:rPr>
              <a:t>Random inputs:</a:t>
            </a:r>
            <a:r>
              <a:rPr lang="en-US">
                <a:solidFill>
                  <a:prstClr val="black">
                    <a:lumMod val="75000"/>
                    <a:lumOff val="25000"/>
                  </a:prstClr>
                </a:solidFill>
                <a:ea typeface="+mn-lt"/>
                <a:cs typeface="+mn-lt"/>
              </a:rPr>
              <a:t> 100% pass, Trojan detection 0%</a:t>
            </a:r>
            <a:endParaRPr lang="en-US">
              <a:solidFill>
                <a:prstClr val="black">
                  <a:lumMod val="75000"/>
                  <a:lumOff val="25000"/>
                </a:prstClr>
              </a:solidFill>
            </a:endParaRPr>
          </a:p>
          <a:p>
            <a:pPr marL="285750" indent="-285750">
              <a:buFont typeface="Arial"/>
              <a:buChar char="•"/>
            </a:pPr>
            <a:r>
              <a:rPr lang="en-US" b="1">
                <a:solidFill>
                  <a:prstClr val="black">
                    <a:lumMod val="75000"/>
                    <a:lumOff val="25000"/>
                  </a:prstClr>
                </a:solidFill>
                <a:ea typeface="+mn-lt"/>
                <a:cs typeface="+mn-lt"/>
              </a:rPr>
              <a:t>Near‑Trojan sequences:</a:t>
            </a:r>
            <a:r>
              <a:rPr lang="en-US">
                <a:solidFill>
                  <a:prstClr val="black">
                    <a:lumMod val="75000"/>
                    <a:lumOff val="25000"/>
                  </a:prstClr>
                </a:solidFill>
                <a:ea typeface="+mn-lt"/>
                <a:cs typeface="+mn-lt"/>
              </a:rPr>
              <a:t> 100% pass, Trojan detection 0%</a:t>
            </a:r>
            <a:endParaRPr lang="en-US">
              <a:solidFill>
                <a:prstClr val="black">
                  <a:lumMod val="75000"/>
                  <a:lumOff val="25000"/>
                </a:prstClr>
              </a:solidFill>
            </a:endParaRPr>
          </a:p>
          <a:p>
            <a:pPr marL="285750" indent="-285750">
              <a:buFont typeface="Arial"/>
              <a:buChar char="•"/>
            </a:pPr>
            <a:r>
              <a:rPr lang="en-US" b="1">
                <a:solidFill>
                  <a:prstClr val="black">
                    <a:lumMod val="75000"/>
                    <a:lumOff val="25000"/>
                  </a:prstClr>
                </a:solidFill>
                <a:ea typeface="+mn-lt"/>
                <a:cs typeface="+mn-lt"/>
              </a:rPr>
              <a:t>Directed Trojan activation:</a:t>
            </a:r>
            <a:r>
              <a:rPr lang="en-US">
                <a:solidFill>
                  <a:prstClr val="black">
                    <a:lumMod val="75000"/>
                    <a:lumOff val="25000"/>
                  </a:prstClr>
                </a:solidFill>
                <a:ea typeface="+mn-lt"/>
                <a:cs typeface="+mn-lt"/>
              </a:rPr>
              <a:t> 100% detection</a:t>
            </a:r>
            <a:endParaRPr lang="en-US">
              <a:solidFill>
                <a:prstClr val="black">
                  <a:lumMod val="75000"/>
                  <a:lumOff val="25000"/>
                </a:prstClr>
              </a:solidFill>
            </a:endParaRPr>
          </a:p>
          <a:p>
            <a:pPr marL="285750" indent="-285750">
              <a:buFont typeface="Arial"/>
              <a:buChar char="•"/>
            </a:pPr>
            <a:r>
              <a:rPr lang="en-US" b="1">
                <a:solidFill>
                  <a:prstClr val="black">
                    <a:lumMod val="75000"/>
                    <a:lumOff val="25000"/>
                  </a:prstClr>
                </a:solidFill>
                <a:ea typeface="+mn-lt"/>
                <a:cs typeface="+mn-lt"/>
              </a:rPr>
              <a:t>Key Insight:</a:t>
            </a:r>
            <a:r>
              <a:rPr lang="en-US">
                <a:solidFill>
                  <a:prstClr val="black">
                    <a:lumMod val="75000"/>
                    <a:lumOff val="25000"/>
                  </a:prstClr>
                </a:solidFill>
                <a:ea typeface="+mn-lt"/>
                <a:cs typeface="+mn-lt"/>
              </a:rPr>
              <a:t> Rare triggers evade ordinary testing, but directed tests expose them</a:t>
            </a:r>
            <a:endParaRPr lang="en-US">
              <a:solidFill>
                <a:prstClr val="black">
                  <a:lumMod val="75000"/>
                  <a:lumOff val="25000"/>
                </a:prstClr>
              </a:solidFill>
              <a:cs typeface="Segoe UI"/>
            </a:endParaRPr>
          </a:p>
          <a:p>
            <a:pPr marL="285750" indent="-285750">
              <a:buFont typeface="Arial"/>
              <a:buChar char="•"/>
            </a:pPr>
            <a:endParaRPr lang="en-US" sz="1200">
              <a:solidFill>
                <a:prstClr val="black">
                  <a:lumMod val="75000"/>
                  <a:lumOff val="25000"/>
                </a:prstClr>
              </a:solidFill>
              <a:cs typeface="Segoe UI"/>
            </a:endParaRPr>
          </a:p>
          <a:p>
            <a:pPr marL="342900" indent="-342900">
              <a:buFont typeface="Arial"/>
              <a:buChar char="•"/>
            </a:pPr>
            <a:r>
              <a:rPr lang="en-US" sz="2000" b="1" u="sng"/>
              <a:t>Conclusion:</a:t>
            </a:r>
            <a:endParaRPr lang="en-US" sz="2000" b="1" u="sng">
              <a:solidFill>
                <a:prstClr val="black">
                  <a:lumMod val="75000"/>
                  <a:lumOff val="25000"/>
                </a:prstClr>
              </a:solidFill>
              <a:latin typeface="Segoe UI" panose="020B0502040204020203" pitchFamily="34" charset="0"/>
              <a:cs typeface="Segoe UI" panose="020B0502040204020203" pitchFamily="34" charset="0"/>
            </a:endParaRPr>
          </a:p>
          <a:p>
            <a:endParaRPr lang="en-US" sz="2000" b="1" u="sng">
              <a:solidFill>
                <a:srgbClr val="000000"/>
              </a:solidFill>
              <a:ea typeface="+mn-lt"/>
              <a:cs typeface="+mn-lt"/>
            </a:endParaRPr>
          </a:p>
          <a:p>
            <a:pPr>
              <a:buFont typeface="Arial"/>
              <a:buChar char="•"/>
            </a:pPr>
            <a:r>
              <a:rPr lang="en-US" b="1">
                <a:solidFill>
                  <a:prstClr val="black">
                    <a:lumMod val="75000"/>
                    <a:lumOff val="25000"/>
                  </a:prstClr>
                </a:solidFill>
                <a:ea typeface="+mn-lt"/>
                <a:cs typeface="+mn-lt"/>
              </a:rPr>
              <a:t>Findings:</a:t>
            </a:r>
            <a:endParaRPr lang="en-US">
              <a:solidFill>
                <a:prstClr val="black">
                  <a:lumMod val="75000"/>
                  <a:lumOff val="25000"/>
                </a:prstClr>
              </a:solidFill>
            </a:endParaRPr>
          </a:p>
          <a:p>
            <a:pPr lvl="1">
              <a:buFont typeface="Arial"/>
              <a:buChar char="•"/>
            </a:pPr>
            <a:r>
              <a:rPr lang="en-US">
                <a:solidFill>
                  <a:prstClr val="black">
                    <a:lumMod val="75000"/>
                    <a:lumOff val="25000"/>
                  </a:prstClr>
                </a:solidFill>
                <a:ea typeface="+mn-lt"/>
                <a:cs typeface="+mn-lt"/>
              </a:rPr>
              <a:t>Trigger rarity strongly affects detectability</a:t>
            </a:r>
            <a:endParaRPr lang="en-US">
              <a:solidFill>
                <a:prstClr val="black">
                  <a:lumMod val="75000"/>
                  <a:lumOff val="25000"/>
                </a:prstClr>
              </a:solidFill>
            </a:endParaRPr>
          </a:p>
          <a:p>
            <a:pPr lvl="1">
              <a:buFont typeface="Arial"/>
              <a:buChar char="•"/>
            </a:pPr>
            <a:r>
              <a:rPr lang="en-US">
                <a:solidFill>
                  <a:prstClr val="black">
                    <a:lumMod val="75000"/>
                    <a:lumOff val="25000"/>
                  </a:prstClr>
                </a:solidFill>
                <a:ea typeface="+mn-lt"/>
                <a:cs typeface="+mn-lt"/>
              </a:rPr>
              <a:t>Payload A visible → single byte trigger detected ,sequence trigger undetected</a:t>
            </a:r>
            <a:endParaRPr lang="en-US">
              <a:solidFill>
                <a:prstClr val="black">
                  <a:lumMod val="75000"/>
                  <a:lumOff val="25000"/>
                </a:prstClr>
              </a:solidFill>
            </a:endParaRPr>
          </a:p>
          <a:p>
            <a:pPr lvl="1">
              <a:buFont typeface="Arial"/>
              <a:buChar char="•"/>
            </a:pPr>
            <a:r>
              <a:rPr lang="en-US">
                <a:solidFill>
                  <a:prstClr val="black">
                    <a:lumMod val="75000"/>
                    <a:lumOff val="25000"/>
                  </a:prstClr>
                </a:solidFill>
                <a:ea typeface="+mn-lt"/>
                <a:cs typeface="+mn-lt"/>
              </a:rPr>
              <a:t>Payload B stealthy → undetected</a:t>
            </a:r>
            <a:endParaRPr lang="en-US">
              <a:solidFill>
                <a:prstClr val="black">
                  <a:lumMod val="75000"/>
                  <a:lumOff val="25000"/>
                </a:prstClr>
              </a:solidFill>
            </a:endParaRPr>
          </a:p>
          <a:p>
            <a:pPr lvl="1">
              <a:buFont typeface="Arial"/>
              <a:buChar char="•"/>
            </a:pPr>
            <a:endParaRPr lang="en-US">
              <a:solidFill>
                <a:prstClr val="black">
                  <a:lumMod val="75000"/>
                  <a:lumOff val="25000"/>
                </a:prstClr>
              </a:solidFill>
              <a:ea typeface="+mn-lt"/>
              <a:cs typeface="+mn-lt"/>
            </a:endParaRPr>
          </a:p>
          <a:p>
            <a:pPr>
              <a:buFont typeface="Arial"/>
              <a:buChar char="•"/>
            </a:pPr>
            <a:r>
              <a:rPr lang="en-US" b="1">
                <a:solidFill>
                  <a:prstClr val="black">
                    <a:lumMod val="75000"/>
                    <a:lumOff val="25000"/>
                  </a:prstClr>
                </a:solidFill>
                <a:ea typeface="+mn-lt"/>
                <a:cs typeface="+mn-lt"/>
              </a:rPr>
              <a:t>Final Goal Achieved:</a:t>
            </a:r>
            <a:r>
              <a:rPr lang="en-US">
                <a:solidFill>
                  <a:prstClr val="black">
                    <a:lumMod val="75000"/>
                    <a:lumOff val="25000"/>
                  </a:prstClr>
                </a:solidFill>
                <a:ea typeface="+mn-lt"/>
                <a:cs typeface="+mn-lt"/>
              </a:rPr>
              <a:t> Single bit Trojan detected successfully as well as limitations and constraints of current solution determined</a:t>
            </a:r>
            <a:endParaRPr lang="en-US">
              <a:solidFill>
                <a:prstClr val="black">
                  <a:lumMod val="75000"/>
                  <a:lumOff val="25000"/>
                </a:prstClr>
              </a:solidFill>
              <a:cs typeface="Segoe UI"/>
            </a:endParaRPr>
          </a:p>
          <a:p>
            <a:pPr marL="285750" indent="-285750">
              <a:buFont typeface="Arial"/>
              <a:buChar char="•"/>
            </a:pPr>
            <a:endParaRPr lang="en-US" sz="120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83012567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D4E-144B-C000-33F4-AD0A8595425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42C585-45D1-DC80-31D3-DB6EDC1C598F}"/>
              </a:ext>
            </a:extLst>
          </p:cNvPr>
          <p:cNvSpPr>
            <a:spLocks noGrp="1"/>
          </p:cNvSpPr>
          <p:nvPr>
            <p:ph type="title"/>
          </p:nvPr>
        </p:nvSpPr>
        <p:spPr>
          <a:xfrm>
            <a:off x="533399" y="655612"/>
            <a:ext cx="11125201" cy="746759"/>
          </a:xfrm>
        </p:spPr>
        <p:txBody>
          <a:bodyPr>
            <a:normAutofit fontScale="90000"/>
          </a:bodyPr>
          <a:lstStyle/>
          <a:p>
            <a:r>
              <a:rPr lang="en-US" b="1" u="sng">
                <a:solidFill>
                  <a:schemeClr val="tx1"/>
                </a:solidFill>
              </a:rPr>
              <a:t>Stage-3 (Construction of trojans and their detection)</a:t>
            </a:r>
          </a:p>
        </p:txBody>
      </p:sp>
      <p:sp>
        <p:nvSpPr>
          <p:cNvPr id="11" name="TextBox 10">
            <a:extLst>
              <a:ext uri="{FF2B5EF4-FFF2-40B4-BE49-F238E27FC236}">
                <a16:creationId xmlns:a16="http://schemas.microsoft.com/office/drawing/2014/main" id="{6279AF2F-2380-0ADD-A7DE-59123DC15338}"/>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72470E35-3543-E961-5092-0943C16886D5}"/>
              </a:ext>
            </a:extLst>
          </p:cNvPr>
          <p:cNvSpPr txBox="1"/>
          <p:nvPr/>
        </p:nvSpPr>
        <p:spPr>
          <a:xfrm>
            <a:off x="605661" y="1402371"/>
            <a:ext cx="10840642"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2400" b="1" u="sng">
                <a:solidFill>
                  <a:prstClr val="black">
                    <a:lumMod val="75000"/>
                    <a:lumOff val="25000"/>
                  </a:prstClr>
                </a:solidFill>
                <a:latin typeface="Segoe UI"/>
                <a:cs typeface="Segoe UI"/>
              </a:rPr>
              <a:t>Limitations</a:t>
            </a:r>
            <a:r>
              <a:rPr lang="en-US" sz="2000" b="1" u="sng">
                <a:solidFill>
                  <a:prstClr val="black">
                    <a:lumMod val="75000"/>
                    <a:lumOff val="25000"/>
                  </a:prstClr>
                </a:solidFill>
                <a:latin typeface="Segoe UI"/>
                <a:cs typeface="Segoe UI"/>
              </a:rPr>
              <a:t>:</a:t>
            </a:r>
            <a:r>
              <a:rPr lang="en-US" sz="2000" b="1">
                <a:solidFill>
                  <a:prstClr val="black">
                    <a:lumMod val="75000"/>
                    <a:lumOff val="25000"/>
                  </a:prstClr>
                </a:solidFill>
                <a:latin typeface="Segoe UI"/>
                <a:cs typeface="Segoe UI"/>
              </a:rPr>
              <a:t> </a:t>
            </a:r>
            <a:endParaRPr lang="en-US" sz="2000">
              <a:solidFill>
                <a:prstClr val="black">
                  <a:lumMod val="75000"/>
                  <a:lumOff val="25000"/>
                </a:prstClr>
              </a:solidFill>
              <a:latin typeface="Segoe UI"/>
              <a:cs typeface="Segoe UI"/>
            </a:endParaRPr>
          </a:p>
          <a:p>
            <a:endParaRPr lang="en-US" sz="2000" b="1">
              <a:solidFill>
                <a:prstClr val="black">
                  <a:lumMod val="75000"/>
                  <a:lumOff val="25000"/>
                </a:prstClr>
              </a:solidFill>
              <a:latin typeface="Segoe UI"/>
              <a:cs typeface="Segoe UI"/>
            </a:endParaRPr>
          </a:p>
          <a:p>
            <a:pPr>
              <a:buFont typeface="Arial"/>
              <a:buChar char="•"/>
            </a:pPr>
            <a:r>
              <a:rPr lang="en-US" sz="2000">
                <a:solidFill>
                  <a:prstClr val="black">
                    <a:lumMod val="75000"/>
                    <a:lumOff val="25000"/>
                  </a:prstClr>
                </a:solidFill>
                <a:ea typeface="+mn-lt"/>
                <a:cs typeface="+mn-lt"/>
              </a:rPr>
              <a:t>1) The four testbenches relied on ideal conditions and lacked real-world applicability.</a:t>
            </a:r>
          </a:p>
          <a:p>
            <a:pPr>
              <a:buFont typeface="Arial"/>
              <a:buChar char="•"/>
            </a:pPr>
            <a:r>
              <a:rPr lang="en-US" sz="2000">
                <a:solidFill>
                  <a:prstClr val="black">
                    <a:lumMod val="75000"/>
                    <a:lumOff val="25000"/>
                  </a:prstClr>
                </a:solidFill>
                <a:ea typeface="+mn-lt"/>
                <a:cs typeface="+mn-lt"/>
              </a:rPr>
              <a:t>2) The testing approach required excessive computational resources, reducing efficiency.</a:t>
            </a:r>
            <a:endParaRPr lang="en-US">
              <a:solidFill>
                <a:prstClr val="black">
                  <a:lumMod val="75000"/>
                  <a:lumOff val="25000"/>
                </a:prstClr>
              </a:solidFill>
              <a:ea typeface="+mn-lt"/>
              <a:cs typeface="+mn-lt"/>
            </a:endParaRPr>
          </a:p>
          <a:p>
            <a:endParaRPr lang="en-US" sz="2000">
              <a:solidFill>
                <a:prstClr val="black">
                  <a:lumMod val="75000"/>
                  <a:lumOff val="25000"/>
                </a:prstClr>
              </a:solidFill>
              <a:latin typeface="Segoe UI"/>
              <a:cs typeface="Segoe UI"/>
            </a:endParaRPr>
          </a:p>
          <a:p>
            <a:pPr marL="285750" indent="-285750">
              <a:buFont typeface="Arial"/>
              <a:buChar char="•"/>
            </a:pPr>
            <a:r>
              <a:rPr lang="en-US" sz="2400" b="1" u="sng">
                <a:solidFill>
                  <a:prstClr val="black">
                    <a:lumMod val="75000"/>
                    <a:lumOff val="25000"/>
                  </a:prstClr>
                </a:solidFill>
                <a:latin typeface="Segoe UI"/>
                <a:cs typeface="Segoe UI"/>
              </a:rPr>
              <a:t>Observation</a:t>
            </a:r>
            <a:r>
              <a:rPr lang="en-US" sz="2400" b="1">
                <a:solidFill>
                  <a:prstClr val="black">
                    <a:lumMod val="75000"/>
                    <a:lumOff val="25000"/>
                  </a:prstClr>
                </a:solidFill>
                <a:latin typeface="Segoe UI"/>
                <a:cs typeface="Segoe UI"/>
              </a:rPr>
              <a:t>:</a:t>
            </a:r>
            <a:endParaRPr lang="en-US">
              <a:solidFill>
                <a:prstClr val="black">
                  <a:lumMod val="75000"/>
                  <a:lumOff val="25000"/>
                </a:prstClr>
              </a:solidFill>
              <a:cs typeface="Segoe UI"/>
            </a:endParaRPr>
          </a:p>
          <a:p>
            <a:pPr marL="285750" indent="-285750" algn="l">
              <a:buFont typeface="Arial"/>
              <a:buChar char="•"/>
            </a:pPr>
            <a:r>
              <a:rPr lang="en-US" sz="2000">
                <a:solidFill>
                  <a:prstClr val="black">
                    <a:lumMod val="75000"/>
                    <a:lumOff val="25000"/>
                  </a:prstClr>
                </a:solidFill>
                <a:latin typeface="Segoe UI" panose="020B0502040204020203" pitchFamily="34" charset="0"/>
                <a:cs typeface="Segoe UI" panose="020B0502040204020203" pitchFamily="34" charset="0"/>
              </a:rPr>
              <a:t>Our test bench was unable to detect any trojans except single-byte trigger trojans.</a:t>
            </a:r>
          </a:p>
          <a:p>
            <a:pPr marL="285750" indent="-285750">
              <a:buFont typeface="Arial"/>
              <a:buChar char="•"/>
            </a:pPr>
            <a:r>
              <a:rPr lang="en-US" sz="2000">
                <a:solidFill>
                  <a:prstClr val="black">
                    <a:lumMod val="75000"/>
                    <a:lumOff val="25000"/>
                  </a:prstClr>
                </a:solidFill>
                <a:latin typeface="Segoe UI"/>
                <a:cs typeface="Segoe UI"/>
              </a:rPr>
              <a:t>There was no optimization of testing from our end.</a:t>
            </a:r>
            <a:endParaRPr lang="en-US" sz="2000">
              <a:solidFill>
                <a:prstClr val="black">
                  <a:lumMod val="75000"/>
                  <a:lumOff val="25000"/>
                </a:prstClr>
              </a:solidFill>
              <a:latin typeface="Segoe UI" panose="020B0502040204020203" pitchFamily="34" charset="0"/>
              <a:cs typeface="Segoe UI" panose="020B0502040204020203" pitchFamily="34" charset="0"/>
            </a:endParaRPr>
          </a:p>
          <a:p>
            <a:pPr marL="285750" indent="-285750">
              <a:buFont typeface="Arial"/>
              <a:buChar char="•"/>
            </a:pPr>
            <a:endParaRPr lang="en-US" sz="2400">
              <a:solidFill>
                <a:prstClr val="black">
                  <a:lumMod val="75000"/>
                  <a:lumOff val="25000"/>
                </a:prstClr>
              </a:solidFill>
              <a:latin typeface="Segoe UI" panose="020B0502040204020203" pitchFamily="34" charset="0"/>
              <a:cs typeface="Segoe UI" panose="020B0502040204020203" pitchFamily="34" charset="0"/>
            </a:endParaRPr>
          </a:p>
          <a:p>
            <a:pPr marL="285750" indent="-285750" algn="l">
              <a:buFont typeface="Arial"/>
              <a:buChar char="•"/>
            </a:pPr>
            <a:r>
              <a:rPr lang="en-US" sz="2400" b="1" u="sng">
                <a:solidFill>
                  <a:prstClr val="black">
                    <a:lumMod val="75000"/>
                    <a:lumOff val="25000"/>
                  </a:prstClr>
                </a:solidFill>
                <a:latin typeface="Segoe UI"/>
                <a:cs typeface="Segoe UI"/>
              </a:rPr>
              <a:t>Conclusion:</a:t>
            </a:r>
            <a:endParaRPr lang="en-US" u="sng">
              <a:solidFill>
                <a:prstClr val="black">
                  <a:lumMod val="75000"/>
                  <a:lumOff val="25000"/>
                </a:prstClr>
              </a:solidFill>
            </a:endParaRPr>
          </a:p>
          <a:p>
            <a:pPr marL="285750" indent="-285750">
              <a:buFont typeface="Arial"/>
              <a:buChar char="•"/>
            </a:pPr>
            <a:r>
              <a:rPr lang="en-US" sz="2000">
                <a:solidFill>
                  <a:prstClr val="black">
                    <a:lumMod val="75000"/>
                    <a:lumOff val="25000"/>
                  </a:prstClr>
                </a:solidFill>
                <a:latin typeface="Segoe UI"/>
                <a:cs typeface="Segoe UI"/>
              </a:rPr>
              <a:t>Upon discussion among ourselves and the TA’s, we understood that EDA playground alone was not a strong enough tool and our solution was very brute-force.</a:t>
            </a:r>
          </a:p>
          <a:p>
            <a:pPr marL="285750" indent="-285750">
              <a:buFont typeface="Arial"/>
              <a:buChar char="•"/>
            </a:pPr>
            <a:endParaRPr lang="en-US" sz="2000">
              <a:solidFill>
                <a:prstClr val="black">
                  <a:lumMod val="75000"/>
                  <a:lumOff val="25000"/>
                </a:prstClr>
              </a:solidFill>
              <a:latin typeface="Segoe UI"/>
              <a:cs typeface="Segoe UI"/>
            </a:endParaRPr>
          </a:p>
        </p:txBody>
      </p:sp>
    </p:spTree>
    <p:extLst>
      <p:ext uri="{BB962C8B-B14F-4D97-AF65-F5344CB8AC3E}">
        <p14:creationId xmlns:p14="http://schemas.microsoft.com/office/powerpoint/2010/main" val="3670701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BEEEA-2542-D3C2-B9F7-15AAE47688B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515DE56-966D-2340-A46F-E54D34CCC2BA}"/>
              </a:ext>
            </a:extLst>
          </p:cNvPr>
          <p:cNvSpPr>
            <a:spLocks noGrp="1"/>
          </p:cNvSpPr>
          <p:nvPr>
            <p:ph type="title"/>
          </p:nvPr>
        </p:nvSpPr>
        <p:spPr>
          <a:xfrm>
            <a:off x="533399" y="612001"/>
            <a:ext cx="11125201" cy="746759"/>
          </a:xfrm>
        </p:spPr>
        <p:txBody>
          <a:bodyPr>
            <a:normAutofit fontScale="90000"/>
          </a:bodyPr>
          <a:lstStyle/>
          <a:p>
            <a:r>
              <a:rPr lang="en-US" b="1" u="sng">
                <a:solidFill>
                  <a:schemeClr val="tx1"/>
                </a:solidFill>
              </a:rPr>
              <a:t>Stage-3 (Construction of trojans and their detection)</a:t>
            </a:r>
          </a:p>
        </p:txBody>
      </p:sp>
      <p:sp>
        <p:nvSpPr>
          <p:cNvPr id="11" name="TextBox 10">
            <a:extLst>
              <a:ext uri="{FF2B5EF4-FFF2-40B4-BE49-F238E27FC236}">
                <a16:creationId xmlns:a16="http://schemas.microsoft.com/office/drawing/2014/main" id="{00E284B1-D39C-2E1D-9F27-70657C3B02B8}"/>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C766D170-61F9-E553-0147-B64417CD0E4E}"/>
              </a:ext>
            </a:extLst>
          </p:cNvPr>
          <p:cNvSpPr txBox="1"/>
          <p:nvPr/>
        </p:nvSpPr>
        <p:spPr>
          <a:xfrm>
            <a:off x="605661" y="1402371"/>
            <a:ext cx="108406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solidFill>
                <a:prstClr val="black">
                  <a:lumMod val="75000"/>
                  <a:lumOff val="25000"/>
                </a:prstClr>
              </a:solidFill>
              <a:latin typeface="Segoe UI"/>
              <a:cs typeface="Segoe UI"/>
            </a:endParaRPr>
          </a:p>
        </p:txBody>
      </p:sp>
      <p:pic>
        <p:nvPicPr>
          <p:cNvPr id="10" name="Picture 9">
            <a:extLst>
              <a:ext uri="{FF2B5EF4-FFF2-40B4-BE49-F238E27FC236}">
                <a16:creationId xmlns:a16="http://schemas.microsoft.com/office/drawing/2014/main" id="{6540C812-6EE2-B14F-3B2B-2511A60C35C0}"/>
              </a:ext>
            </a:extLst>
          </p:cNvPr>
          <p:cNvPicPr>
            <a:picLocks noChangeAspect="1"/>
          </p:cNvPicPr>
          <p:nvPr/>
        </p:nvPicPr>
        <p:blipFill>
          <a:blip r:embed="rId2"/>
          <a:stretch>
            <a:fillRect/>
          </a:stretch>
        </p:blipFill>
        <p:spPr>
          <a:xfrm>
            <a:off x="855257" y="1402371"/>
            <a:ext cx="4620257" cy="2473631"/>
          </a:xfrm>
          <a:prstGeom prst="rect">
            <a:avLst/>
          </a:prstGeom>
        </p:spPr>
      </p:pic>
      <p:pic>
        <p:nvPicPr>
          <p:cNvPr id="13" name="Picture 12">
            <a:extLst>
              <a:ext uri="{FF2B5EF4-FFF2-40B4-BE49-F238E27FC236}">
                <a16:creationId xmlns:a16="http://schemas.microsoft.com/office/drawing/2014/main" id="{5888E12E-D25E-BE8C-95DE-5A950A322CCA}"/>
              </a:ext>
            </a:extLst>
          </p:cNvPr>
          <p:cNvPicPr>
            <a:picLocks noChangeAspect="1"/>
          </p:cNvPicPr>
          <p:nvPr/>
        </p:nvPicPr>
        <p:blipFill>
          <a:blip r:embed="rId3"/>
          <a:stretch>
            <a:fillRect/>
          </a:stretch>
        </p:blipFill>
        <p:spPr>
          <a:xfrm>
            <a:off x="6952686" y="1379124"/>
            <a:ext cx="4273770" cy="2757447"/>
          </a:xfrm>
          <a:prstGeom prst="rect">
            <a:avLst/>
          </a:prstGeom>
        </p:spPr>
      </p:pic>
      <p:pic>
        <p:nvPicPr>
          <p:cNvPr id="16" name="Picture 15">
            <a:extLst>
              <a:ext uri="{FF2B5EF4-FFF2-40B4-BE49-F238E27FC236}">
                <a16:creationId xmlns:a16="http://schemas.microsoft.com/office/drawing/2014/main" id="{0757E104-481F-820A-B3DB-934D497D8542}"/>
              </a:ext>
            </a:extLst>
          </p:cNvPr>
          <p:cNvPicPr>
            <a:picLocks noChangeAspect="1"/>
          </p:cNvPicPr>
          <p:nvPr/>
        </p:nvPicPr>
        <p:blipFill>
          <a:blip r:embed="rId4"/>
          <a:stretch>
            <a:fillRect/>
          </a:stretch>
        </p:blipFill>
        <p:spPr>
          <a:xfrm>
            <a:off x="853220" y="4130237"/>
            <a:ext cx="3595006" cy="2611311"/>
          </a:xfrm>
          <a:prstGeom prst="rect">
            <a:avLst/>
          </a:prstGeom>
        </p:spPr>
      </p:pic>
    </p:spTree>
    <p:extLst>
      <p:ext uri="{BB962C8B-B14F-4D97-AF65-F5344CB8AC3E}">
        <p14:creationId xmlns:p14="http://schemas.microsoft.com/office/powerpoint/2010/main" val="12193691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44E8E-2233-52C1-F3AE-5EB3A8E3A4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F8D741-F291-8B60-622B-5256EBADC360}"/>
              </a:ext>
            </a:extLst>
          </p:cNvPr>
          <p:cNvSpPr>
            <a:spLocks noGrp="1"/>
          </p:cNvSpPr>
          <p:nvPr>
            <p:ph type="title"/>
          </p:nvPr>
        </p:nvSpPr>
        <p:spPr>
          <a:xfrm>
            <a:off x="533399" y="508543"/>
            <a:ext cx="11125201" cy="746759"/>
          </a:xfrm>
        </p:spPr>
        <p:txBody>
          <a:bodyPr/>
          <a:lstStyle/>
          <a:p>
            <a:r>
              <a:rPr lang="en-US" b="1" u="sng">
                <a:solidFill>
                  <a:schemeClr val="tx1"/>
                </a:solidFill>
              </a:rPr>
              <a:t>Stage-4 (Final implementation)</a:t>
            </a:r>
          </a:p>
        </p:txBody>
      </p:sp>
      <p:sp>
        <p:nvSpPr>
          <p:cNvPr id="11" name="TextBox 10">
            <a:extLst>
              <a:ext uri="{FF2B5EF4-FFF2-40B4-BE49-F238E27FC236}">
                <a16:creationId xmlns:a16="http://schemas.microsoft.com/office/drawing/2014/main" id="{4A58BAE5-28C7-E3AB-B6B4-DD103C519C2D}"/>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70532154-E3AD-9F81-7F09-C53EDA344080}"/>
              </a:ext>
            </a:extLst>
          </p:cNvPr>
          <p:cNvSpPr txBox="1"/>
          <p:nvPr/>
        </p:nvSpPr>
        <p:spPr>
          <a:xfrm>
            <a:off x="844472" y="1369927"/>
            <a:ext cx="8939607"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2400" b="1" u="sng" dirty="0">
                <a:solidFill>
                  <a:prstClr val="black">
                    <a:lumMod val="75000"/>
                    <a:lumOff val="25000"/>
                  </a:prstClr>
                </a:solidFill>
                <a:latin typeface="Segoe UI"/>
                <a:cs typeface="Segoe UI"/>
              </a:rPr>
              <a:t>Solutions discussed</a:t>
            </a:r>
          </a:p>
          <a:p>
            <a:pPr marL="285750" indent="-285750">
              <a:buFont typeface="Arial"/>
              <a:buChar char="•"/>
            </a:pPr>
            <a:r>
              <a:rPr lang="en-US" sz="2000" dirty="0">
                <a:solidFill>
                  <a:prstClr val="black">
                    <a:lumMod val="75000"/>
                    <a:lumOff val="25000"/>
                  </a:prstClr>
                </a:solidFill>
                <a:latin typeface="Segoe UI"/>
                <a:cs typeface="Segoe UI"/>
              </a:rPr>
              <a:t>1)</a:t>
            </a:r>
            <a:r>
              <a:rPr lang="en-US" sz="2000" u="sng" dirty="0">
                <a:solidFill>
                  <a:prstClr val="black">
                    <a:lumMod val="75000"/>
                    <a:lumOff val="25000"/>
                  </a:prstClr>
                </a:solidFill>
                <a:latin typeface="Segoe UI"/>
                <a:cs typeface="Segoe UI"/>
              </a:rPr>
              <a:t> Benign clouds</a:t>
            </a:r>
            <a:r>
              <a:rPr lang="en-US" sz="2000" dirty="0">
                <a:solidFill>
                  <a:prstClr val="black">
                    <a:lumMod val="75000"/>
                    <a:lumOff val="25000"/>
                  </a:prstClr>
                </a:solidFill>
                <a:latin typeface="Segoe UI"/>
                <a:cs typeface="Segoe UI"/>
              </a:rPr>
              <a:t>-This algorithm suggests to keep a prefix and suffix sequences as reference to detect the trojan sequence.</a:t>
            </a:r>
            <a:r>
              <a:rPr lang="en-US" sz="2000" u="sng" dirty="0">
                <a:solidFill>
                  <a:prstClr val="black">
                    <a:lumMod val="75000"/>
                    <a:lumOff val="25000"/>
                  </a:prstClr>
                </a:solidFill>
                <a:latin typeface="Segoe UI"/>
                <a:cs typeface="Segoe UI"/>
              </a:rPr>
              <a:t> </a:t>
            </a:r>
          </a:p>
          <a:p>
            <a:pPr marL="285750" indent="-285750">
              <a:buFont typeface="Arial"/>
              <a:buChar char="•"/>
            </a:pPr>
            <a:r>
              <a:rPr lang="en-US" sz="2000" dirty="0">
                <a:solidFill>
                  <a:prstClr val="black">
                    <a:lumMod val="75000"/>
                    <a:lumOff val="25000"/>
                  </a:prstClr>
                </a:solidFill>
                <a:latin typeface="Segoe UI"/>
                <a:cs typeface="Segoe UI"/>
              </a:rPr>
              <a:t>2)</a:t>
            </a:r>
            <a:r>
              <a:rPr lang="en-US" sz="2000" u="sng" dirty="0">
                <a:solidFill>
                  <a:prstClr val="black">
                    <a:lumMod val="75000"/>
                    <a:lumOff val="25000"/>
                  </a:prstClr>
                </a:solidFill>
                <a:latin typeface="Segoe UI"/>
                <a:cs typeface="Segoe UI"/>
              </a:rPr>
              <a:t>De Bruijn</a:t>
            </a:r>
            <a:r>
              <a:rPr lang="en-US" sz="2000" dirty="0">
                <a:solidFill>
                  <a:prstClr val="black">
                    <a:lumMod val="75000"/>
                    <a:lumOff val="25000"/>
                  </a:prstClr>
                </a:solidFill>
                <a:latin typeface="Segoe UI"/>
                <a:cs typeface="Segoe UI"/>
              </a:rPr>
              <a:t>-This algorithm produced a string of input that could repeat all possible sequences.</a:t>
            </a:r>
          </a:p>
          <a:p>
            <a:pPr marL="285750" indent="-285750">
              <a:buFont typeface="Arial"/>
              <a:buChar char="•"/>
            </a:pPr>
            <a:r>
              <a:rPr lang="en-US" sz="2000" dirty="0">
                <a:solidFill>
                  <a:prstClr val="black">
                    <a:lumMod val="75000"/>
                    <a:lumOff val="25000"/>
                  </a:prstClr>
                </a:solidFill>
                <a:latin typeface="Segoe UI"/>
                <a:cs typeface="Segoe UI"/>
              </a:rPr>
              <a:t>3)</a:t>
            </a:r>
            <a:r>
              <a:rPr lang="en-US" sz="2000" u="sng" dirty="0">
                <a:solidFill>
                  <a:prstClr val="black">
                    <a:lumMod val="75000"/>
                    <a:lumOff val="25000"/>
                  </a:prstClr>
                </a:solidFill>
                <a:latin typeface="Segoe UI"/>
                <a:cs typeface="Segoe UI"/>
              </a:rPr>
              <a:t> FSM trojans</a:t>
            </a:r>
            <a:r>
              <a:rPr lang="en-US" sz="2000" dirty="0">
                <a:solidFill>
                  <a:prstClr val="black">
                    <a:lumMod val="75000"/>
                    <a:lumOff val="25000"/>
                  </a:prstClr>
                </a:solidFill>
                <a:latin typeface="Segoe UI"/>
                <a:cs typeface="Segoe UI"/>
              </a:rPr>
              <a:t>-We wanted to monitor every state change and determine the suspicious states.</a:t>
            </a:r>
          </a:p>
          <a:p>
            <a:pPr algn="l"/>
            <a:endParaRPr lang="en-US" sz="2000" dirty="0">
              <a:solidFill>
                <a:prstClr val="black">
                  <a:lumMod val="75000"/>
                  <a:lumOff val="25000"/>
                </a:prstClr>
              </a:solidFill>
              <a:latin typeface="Segoe UI" panose="020B0502040204020203" pitchFamily="34" charset="0"/>
              <a:cs typeface="Segoe UI" panose="020B0502040204020203" pitchFamily="34" charset="0"/>
            </a:endParaRPr>
          </a:p>
          <a:p>
            <a:pPr marL="285750" indent="-285750" algn="l">
              <a:buFont typeface="Arial"/>
              <a:buChar char="•"/>
            </a:pPr>
            <a:r>
              <a:rPr lang="en-US" sz="2400" b="1" u="sng" dirty="0">
                <a:solidFill>
                  <a:prstClr val="black">
                    <a:lumMod val="75000"/>
                    <a:lumOff val="25000"/>
                  </a:prstClr>
                </a:solidFill>
                <a:latin typeface="Segoe UI"/>
                <a:cs typeface="Segoe UI"/>
              </a:rPr>
              <a:t>Solution implemented</a:t>
            </a:r>
          </a:p>
          <a:p>
            <a:pPr marL="285750" indent="-285750" algn="l">
              <a:buFont typeface="Arial"/>
              <a:buChar char="•"/>
            </a:pPr>
            <a:r>
              <a:rPr lang="en-US" sz="2000" dirty="0">
                <a:solidFill>
                  <a:prstClr val="black">
                    <a:lumMod val="75000"/>
                    <a:lumOff val="25000"/>
                  </a:prstClr>
                </a:solidFill>
                <a:latin typeface="Segoe UI" panose="020B0502040204020203" pitchFamily="34" charset="0"/>
                <a:cs typeface="Segoe UI" panose="020B0502040204020203" pitchFamily="34" charset="0"/>
              </a:rPr>
              <a:t>We switched from EDA playground to a Linux-based system so that we don’t encounter any computational restrictions.</a:t>
            </a:r>
          </a:p>
          <a:p>
            <a:pPr marL="285750" indent="-285750" algn="l">
              <a:buFont typeface="Arial"/>
              <a:buChar char="•"/>
            </a:pPr>
            <a:r>
              <a:rPr lang="en-US" sz="2000" dirty="0">
                <a:solidFill>
                  <a:prstClr val="black">
                    <a:lumMod val="75000"/>
                    <a:lumOff val="25000"/>
                  </a:prstClr>
                </a:solidFill>
                <a:latin typeface="Segoe UI"/>
                <a:cs typeface="Segoe UI"/>
              </a:rPr>
              <a:t>We used Python to find the suspicious logic in the source code and generate test cases.</a:t>
            </a:r>
          </a:p>
          <a:p>
            <a:pPr marL="285750" indent="-285750" algn="l">
              <a:buFont typeface="Arial"/>
              <a:buChar char="•"/>
            </a:pPr>
            <a:r>
              <a:rPr lang="en-US" sz="2000" dirty="0">
                <a:solidFill>
                  <a:prstClr val="black">
                    <a:lumMod val="75000"/>
                    <a:lumOff val="25000"/>
                  </a:prstClr>
                </a:solidFill>
                <a:latin typeface="Segoe UI" panose="020B0502040204020203" pitchFamily="34" charset="0"/>
                <a:cs typeface="Segoe UI" panose="020B0502040204020203" pitchFamily="34" charset="0"/>
              </a:rPr>
              <a:t>We connected software automation with hardware simulation.</a:t>
            </a:r>
          </a:p>
          <a:p>
            <a:pPr algn="l"/>
            <a:endParaRPr lang="en-US" sz="20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328880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4B03-BCA7-BC8A-8976-54B83D90E9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85E9AE-6E35-CF71-1D4F-5F4A9CCF60CF}"/>
              </a:ext>
            </a:extLst>
          </p:cNvPr>
          <p:cNvSpPr>
            <a:spLocks noGrp="1"/>
          </p:cNvSpPr>
          <p:nvPr>
            <p:ph type="title"/>
          </p:nvPr>
        </p:nvSpPr>
        <p:spPr>
          <a:xfrm>
            <a:off x="533399" y="456154"/>
            <a:ext cx="11125201" cy="746759"/>
          </a:xfrm>
        </p:spPr>
        <p:txBody>
          <a:bodyPr/>
          <a:lstStyle/>
          <a:p>
            <a:r>
              <a:rPr lang="en-US" b="1" u="sng">
                <a:solidFill>
                  <a:schemeClr val="tx1"/>
                </a:solidFill>
              </a:rPr>
              <a:t>Stage-4 (Final implementation)</a:t>
            </a:r>
          </a:p>
        </p:txBody>
      </p:sp>
      <p:sp>
        <p:nvSpPr>
          <p:cNvPr id="11" name="TextBox 10">
            <a:extLst>
              <a:ext uri="{FF2B5EF4-FFF2-40B4-BE49-F238E27FC236}">
                <a16:creationId xmlns:a16="http://schemas.microsoft.com/office/drawing/2014/main" id="{E2DE7243-DBDB-C5EB-2A07-5348D1275BB0}"/>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B2D252DB-E522-230E-BBF2-4DC7300853EA}"/>
              </a:ext>
            </a:extLst>
          </p:cNvPr>
          <p:cNvSpPr txBox="1"/>
          <p:nvPr/>
        </p:nvSpPr>
        <p:spPr>
          <a:xfrm>
            <a:off x="854910" y="1202913"/>
            <a:ext cx="8929169"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sz="2400" b="1" u="sng">
                <a:solidFill>
                  <a:prstClr val="black">
                    <a:lumMod val="75000"/>
                    <a:lumOff val="25000"/>
                  </a:prstClr>
                </a:solidFill>
                <a:latin typeface="Segoe UI"/>
                <a:cs typeface="Segoe UI"/>
              </a:rPr>
              <a:t>How it works?</a:t>
            </a:r>
          </a:p>
          <a:p>
            <a:pPr marL="285750" indent="-285750" algn="l">
              <a:buFont typeface="Arial"/>
              <a:buChar char="•"/>
            </a:pPr>
            <a:endParaRPr lang="en-US" sz="2400" b="1">
              <a:solidFill>
                <a:prstClr val="black">
                  <a:lumMod val="75000"/>
                  <a:lumOff val="25000"/>
                </a:prstClr>
              </a:solidFill>
              <a:latin typeface="Segoe UI" panose="020B0502040204020203" pitchFamily="34" charset="0"/>
              <a:cs typeface="Segoe UI" panose="020B0502040204020203" pitchFamily="34" charset="0"/>
            </a:endParaRPr>
          </a:p>
          <a:p>
            <a:pPr marL="285750" indent="-285750">
              <a:buFont typeface="Arial"/>
              <a:buChar char="•"/>
            </a:pPr>
            <a:r>
              <a:rPr lang="en-US">
                <a:solidFill>
                  <a:prstClr val="black">
                    <a:lumMod val="75000"/>
                    <a:lumOff val="25000"/>
                  </a:prstClr>
                </a:solidFill>
                <a:latin typeface="Segoe UI"/>
                <a:cs typeface="Segoe UI"/>
              </a:rPr>
              <a:t>The python script compares the clean RTL with the suspected RTL and finds out suspicious logic based on difference in codes ignoring whitespace and comments.</a:t>
            </a:r>
          </a:p>
          <a:p>
            <a:endParaRPr lang="en-US">
              <a:solidFill>
                <a:prstClr val="black">
                  <a:lumMod val="75000"/>
                  <a:lumOff val="25000"/>
                </a:prstClr>
              </a:solidFill>
              <a:latin typeface="Segoe UI"/>
              <a:cs typeface="Segoe UI"/>
            </a:endParaRPr>
          </a:p>
          <a:p>
            <a:pPr marL="285750" indent="-285750">
              <a:buFont typeface="Arial"/>
              <a:buChar char="•"/>
            </a:pPr>
            <a:r>
              <a:rPr lang="en-US">
                <a:solidFill>
                  <a:prstClr val="black">
                    <a:lumMod val="75000"/>
                    <a:lumOff val="25000"/>
                  </a:prstClr>
                </a:solidFill>
                <a:latin typeface="Segoe UI"/>
                <a:cs typeface="Segoe UI"/>
              </a:rPr>
              <a:t>The script assigns scores based on comparisons ,conditional-branches, state- variables, counters,  data-paths, trigger-related names.</a:t>
            </a:r>
          </a:p>
          <a:p>
            <a:endParaRPr lang="en-US">
              <a:solidFill>
                <a:prstClr val="black">
                  <a:lumMod val="75000"/>
                  <a:lumOff val="25000"/>
                </a:prstClr>
              </a:solidFill>
              <a:latin typeface="Segoe UI"/>
              <a:cs typeface="Segoe UI"/>
            </a:endParaRPr>
          </a:p>
          <a:p>
            <a:pPr marL="285750" indent="-285750">
              <a:buFont typeface="Arial"/>
              <a:buChar char="•"/>
            </a:pPr>
            <a:r>
              <a:rPr lang="en-US">
                <a:solidFill>
                  <a:prstClr val="black">
                    <a:lumMod val="75000"/>
                    <a:lumOff val="25000"/>
                  </a:prstClr>
                </a:solidFill>
                <a:cs typeface="Segoe UI"/>
              </a:rPr>
              <a:t>Estimate trigger rarity using byte-sequence length, adjusted by detected FSM-state and variable constraints using formula listed at right side</a:t>
            </a:r>
          </a:p>
          <a:p>
            <a:endParaRPr lang="en-US">
              <a:solidFill>
                <a:prstClr val="black">
                  <a:lumMod val="75000"/>
                  <a:lumOff val="25000"/>
                </a:prstClr>
              </a:solidFill>
              <a:cs typeface="Segoe UI"/>
            </a:endParaRPr>
          </a:p>
          <a:p>
            <a:pPr marL="285750" indent="-285750">
              <a:buFont typeface="Arial"/>
              <a:buChar char="•"/>
            </a:pPr>
            <a:r>
              <a:rPr lang="en-US">
                <a:solidFill>
                  <a:prstClr val="black">
                    <a:lumMod val="75000"/>
                    <a:lumOff val="25000"/>
                  </a:prstClr>
                </a:solidFill>
                <a:cs typeface="Segoe UI"/>
              </a:rPr>
              <a:t>Filter and rank trigger candidates using the suspiciousness score and the configured rarity threshold of 1/256.</a:t>
            </a:r>
          </a:p>
          <a:p>
            <a:endParaRPr lang="en-US">
              <a:solidFill>
                <a:prstClr val="black">
                  <a:lumMod val="75000"/>
                  <a:lumOff val="25000"/>
                </a:prstClr>
              </a:solidFill>
              <a:cs typeface="Segoe UI"/>
            </a:endParaRPr>
          </a:p>
          <a:p>
            <a:pPr marL="285750" indent="-285750">
              <a:buFont typeface="Arial"/>
              <a:buChar char="•"/>
            </a:pPr>
            <a:r>
              <a:rPr lang="en-US">
                <a:solidFill>
                  <a:prstClr val="black">
                    <a:lumMod val="75000"/>
                    <a:lumOff val="25000"/>
                  </a:prstClr>
                </a:solidFill>
                <a:cs typeface="Segoe UI"/>
              </a:rPr>
              <a:t>Generate candidate input sequences and a System Verilog test configuration for selected trigger conditions.</a:t>
            </a:r>
            <a:endParaRPr lang="en-US">
              <a:solidFill>
                <a:prstClr val="black">
                  <a:lumMod val="75000"/>
                  <a:lumOff val="25000"/>
                </a:prstClr>
              </a:solidFill>
              <a:latin typeface="Segoe UI"/>
              <a:cs typeface="Segoe UI"/>
            </a:endParaRPr>
          </a:p>
          <a:p>
            <a:pPr marL="285750" indent="-285750">
              <a:buFont typeface="Arial"/>
              <a:buChar char="•"/>
            </a:pPr>
            <a:endParaRPr lang="en-US">
              <a:solidFill>
                <a:prstClr val="black">
                  <a:lumMod val="75000"/>
                  <a:lumOff val="25000"/>
                </a:prstClr>
              </a:solidFill>
              <a:latin typeface="Segoe UI"/>
              <a:cs typeface="Segoe UI"/>
            </a:endParaRPr>
          </a:p>
        </p:txBody>
      </p:sp>
      <p:pic>
        <p:nvPicPr>
          <p:cNvPr id="5" name="Picture 4">
            <a:extLst>
              <a:ext uri="{FF2B5EF4-FFF2-40B4-BE49-F238E27FC236}">
                <a16:creationId xmlns:a16="http://schemas.microsoft.com/office/drawing/2014/main" id="{A428AE68-5EAA-384F-9065-CD3F1CA001C0}"/>
              </a:ext>
            </a:extLst>
          </p:cNvPr>
          <p:cNvPicPr>
            <a:picLocks noChangeAspect="1"/>
          </p:cNvPicPr>
          <p:nvPr/>
        </p:nvPicPr>
        <p:blipFill>
          <a:blip r:embed="rId2"/>
          <a:stretch>
            <a:fillRect/>
          </a:stretch>
        </p:blipFill>
        <p:spPr>
          <a:xfrm>
            <a:off x="9227507" y="2674581"/>
            <a:ext cx="2860109" cy="1007797"/>
          </a:xfrm>
          <a:prstGeom prst="rect">
            <a:avLst/>
          </a:prstGeom>
        </p:spPr>
      </p:pic>
    </p:spTree>
    <p:extLst>
      <p:ext uri="{BB962C8B-B14F-4D97-AF65-F5344CB8AC3E}">
        <p14:creationId xmlns:p14="http://schemas.microsoft.com/office/powerpoint/2010/main" val="54834364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D7D7-B621-5727-A998-1EB56BE264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53130B0-0C87-F771-4A69-5E0369C87641}"/>
              </a:ext>
            </a:extLst>
          </p:cNvPr>
          <p:cNvSpPr>
            <a:spLocks noGrp="1"/>
          </p:cNvSpPr>
          <p:nvPr>
            <p:ph type="title"/>
          </p:nvPr>
        </p:nvSpPr>
        <p:spPr>
          <a:xfrm>
            <a:off x="533399" y="779211"/>
            <a:ext cx="11125201" cy="746759"/>
          </a:xfrm>
        </p:spPr>
        <p:txBody>
          <a:bodyPr/>
          <a:lstStyle/>
          <a:p>
            <a:r>
              <a:rPr lang="en-US" b="1" u="sng">
                <a:solidFill>
                  <a:schemeClr val="tx1"/>
                </a:solidFill>
              </a:rPr>
              <a:t>Stage-4 (Final implementation)</a:t>
            </a:r>
          </a:p>
        </p:txBody>
      </p:sp>
      <p:sp>
        <p:nvSpPr>
          <p:cNvPr id="11" name="TextBox 10">
            <a:extLst>
              <a:ext uri="{FF2B5EF4-FFF2-40B4-BE49-F238E27FC236}">
                <a16:creationId xmlns:a16="http://schemas.microsoft.com/office/drawing/2014/main" id="{89D9E8F7-5EDD-1E11-07C0-FBA779CAA55F}"/>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D5250247-1943-9956-C832-8646FCF2A957}"/>
              </a:ext>
            </a:extLst>
          </p:cNvPr>
          <p:cNvSpPr txBox="1"/>
          <p:nvPr/>
        </p:nvSpPr>
        <p:spPr>
          <a:xfrm>
            <a:off x="10710700" y="2884188"/>
            <a:ext cx="2743199" cy="300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a:lnSpc>
                <a:spcPts val="1800"/>
              </a:lnSpc>
              <a:spcAft>
                <a:spcPts val="600"/>
              </a:spcAft>
              <a:buNone/>
            </a:pPr>
            <a:endParaRPr lang="en-US" sz="1200">
              <a:solidFill>
                <a:prstClr val="black">
                  <a:lumMod val="75000"/>
                  <a:lumOff val="25000"/>
                </a:prstClr>
              </a:solidFill>
              <a:cs typeface="Segoe UI"/>
            </a:endParaRPr>
          </a:p>
        </p:txBody>
      </p:sp>
      <p:sp>
        <p:nvSpPr>
          <p:cNvPr id="2" name="TextBox 1">
            <a:extLst>
              <a:ext uri="{FF2B5EF4-FFF2-40B4-BE49-F238E27FC236}">
                <a16:creationId xmlns:a16="http://schemas.microsoft.com/office/drawing/2014/main" id="{90158E7E-2E8A-65BD-A523-AB446E1DA038}"/>
              </a:ext>
            </a:extLst>
          </p:cNvPr>
          <p:cNvSpPr txBox="1"/>
          <p:nvPr/>
        </p:nvSpPr>
        <p:spPr>
          <a:xfrm>
            <a:off x="1014984" y="1453896"/>
            <a:ext cx="9244584" cy="4809744"/>
          </a:xfrm>
          <a:prstGeom prst="rect">
            <a:avLst/>
          </a:prstGeom>
        </p:spPr>
        <p:txBody>
          <a:bodyPr vert="horz" wrap="square" lIns="91440" tIns="45720" rIns="91440" bIns="45720" rtlCol="0">
            <a:noAutofit/>
          </a:bodyPr>
          <a:lstStyle/>
          <a:p>
            <a:pPr marL="171450" indent="-171450" algn="l">
              <a:lnSpc>
                <a:spcPts val="1800"/>
              </a:lnSpc>
              <a:spcAft>
                <a:spcPts val="600"/>
              </a:spcAft>
              <a:buFont typeface="Arial" panose="020B0604020202020204" pitchFamily="34" charset="0"/>
              <a:buChar char="•"/>
            </a:pPr>
            <a:r>
              <a:rPr lang="en-US" sz="2400" b="1" u="sng">
                <a:solidFill>
                  <a:prstClr val="black">
                    <a:lumMod val="75000"/>
                    <a:lumOff val="25000"/>
                  </a:prstClr>
                </a:solidFill>
                <a:latin typeface="Segoe UI" panose="020B0502040204020203" pitchFamily="34" charset="0"/>
                <a:cs typeface="Segoe UI" panose="020B0502040204020203" pitchFamily="34" charset="0"/>
              </a:rPr>
              <a:t>Results:</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We successfully detected trojans in the code using code comparisons as well as statistical analysis.</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We were able to optimize the search for trojans to a level which could be industry applicable.</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Multiple types of trojans could be detected using a general method without need for special cases.</a:t>
            </a:r>
          </a:p>
          <a:p>
            <a:pPr marL="171450" indent="-171450" algn="l">
              <a:lnSpc>
                <a:spcPts val="1800"/>
              </a:lnSpc>
              <a:spcAft>
                <a:spcPts val="600"/>
              </a:spcAft>
              <a:buFont typeface="Arial" panose="020B0604020202020204" pitchFamily="34" charset="0"/>
              <a:buChar char="•"/>
            </a:pPr>
            <a:endParaRPr lang="en-IN" sz="2000">
              <a:solidFill>
                <a:prstClr val="black">
                  <a:lumMod val="75000"/>
                  <a:lumOff val="25000"/>
                </a:prstClr>
              </a:solidFill>
              <a:latin typeface="Segoe UI" panose="020B0502040204020203" pitchFamily="34" charset="0"/>
              <a:cs typeface="Segoe UI" panose="020B0502040204020203" pitchFamily="34" charset="0"/>
            </a:endParaRPr>
          </a:p>
          <a:p>
            <a:pPr marL="171450" indent="-171450" algn="l">
              <a:lnSpc>
                <a:spcPts val="1800"/>
              </a:lnSpc>
              <a:spcAft>
                <a:spcPts val="600"/>
              </a:spcAft>
              <a:buFont typeface="Arial" panose="020B0604020202020204" pitchFamily="34" charset="0"/>
              <a:buChar char="•"/>
            </a:pPr>
            <a:r>
              <a:rPr lang="en-IN" sz="2400" b="1" u="sng">
                <a:solidFill>
                  <a:prstClr val="black">
                    <a:lumMod val="75000"/>
                    <a:lumOff val="25000"/>
                  </a:prstClr>
                </a:solidFill>
                <a:latin typeface="Segoe UI" panose="020B0502040204020203" pitchFamily="34" charset="0"/>
                <a:cs typeface="Segoe UI" panose="020B0502040204020203" pitchFamily="34" charset="0"/>
              </a:rPr>
              <a:t>Constraints</a:t>
            </a:r>
            <a:r>
              <a:rPr lang="en-IN" sz="2400" b="1">
                <a:solidFill>
                  <a:prstClr val="black">
                    <a:lumMod val="75000"/>
                    <a:lumOff val="25000"/>
                  </a:prstClr>
                </a:solidFill>
                <a:latin typeface="Segoe UI" panose="020B0502040204020203" pitchFamily="34" charset="0"/>
                <a:cs typeface="Segoe UI" panose="020B0502040204020203" pitchFamily="34" charset="0"/>
              </a:rPr>
              <a:t>:</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This method requires complete access to both golden reference as well as the suspect code.</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The probability threshold is quite high for complex systems which have multiple logics embedded.</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The sequence score and probability formulas are generic and not absolute.</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Trojans hidden under broad conditions cannot be accessed.</a:t>
            </a:r>
          </a:p>
          <a:p>
            <a:pPr marL="171450" indent="-171450" algn="l">
              <a:lnSpc>
                <a:spcPts val="1800"/>
              </a:lnSpc>
              <a:spcAft>
                <a:spcPts val="600"/>
              </a:spcAft>
              <a:buFont typeface="Arial" panose="020B0604020202020204" pitchFamily="34" charset="0"/>
              <a:buChar char="•"/>
            </a:pPr>
            <a:r>
              <a:rPr lang="en-IN" sz="2000">
                <a:solidFill>
                  <a:prstClr val="black">
                    <a:lumMod val="75000"/>
                    <a:lumOff val="25000"/>
                  </a:prstClr>
                </a:solidFill>
                <a:latin typeface="Segoe UI" panose="020B0502040204020203" pitchFamily="34" charset="0"/>
                <a:cs typeface="Segoe UI" panose="020B0502040204020203" pitchFamily="34" charset="0"/>
              </a:rPr>
              <a:t>The trojan conditions must be quite descriptive.</a:t>
            </a:r>
          </a:p>
        </p:txBody>
      </p:sp>
    </p:spTree>
    <p:extLst>
      <p:ext uri="{BB962C8B-B14F-4D97-AF65-F5344CB8AC3E}">
        <p14:creationId xmlns:p14="http://schemas.microsoft.com/office/powerpoint/2010/main" val="361901713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4649-060C-367C-4DC2-20BFF70E895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51886E-6ECD-CC66-56C5-8A5A5F882D62}"/>
              </a:ext>
            </a:extLst>
          </p:cNvPr>
          <p:cNvSpPr>
            <a:spLocks noGrp="1"/>
          </p:cNvSpPr>
          <p:nvPr>
            <p:ph type="title"/>
          </p:nvPr>
        </p:nvSpPr>
        <p:spPr/>
        <p:txBody>
          <a:bodyPr/>
          <a:lstStyle/>
          <a:p>
            <a:r>
              <a:rPr lang="en-US" b="1" u="sng">
                <a:solidFill>
                  <a:schemeClr val="tx1"/>
                </a:solidFill>
              </a:rPr>
              <a:t>Stage-4 (Final implementation)</a:t>
            </a:r>
          </a:p>
        </p:txBody>
      </p:sp>
      <p:sp>
        <p:nvSpPr>
          <p:cNvPr id="11" name="TextBox 10">
            <a:extLst>
              <a:ext uri="{FF2B5EF4-FFF2-40B4-BE49-F238E27FC236}">
                <a16:creationId xmlns:a16="http://schemas.microsoft.com/office/drawing/2014/main" id="{859FB2C0-2A0B-6804-F934-9573C8B58690}"/>
              </a:ext>
            </a:extLst>
          </p:cNvPr>
          <p:cNvSpPr txBox="1"/>
          <p:nvPr/>
        </p:nvSpPr>
        <p:spPr>
          <a:xfrm>
            <a:off x="855257" y="3134989"/>
            <a:ext cx="6507303" cy="440584"/>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29EE4BD0-F482-8D76-1F15-2C33748FF095}"/>
              </a:ext>
            </a:extLst>
          </p:cNvPr>
          <p:cNvSpPr txBox="1"/>
          <p:nvPr/>
        </p:nvSpPr>
        <p:spPr>
          <a:xfrm>
            <a:off x="10710700" y="2884188"/>
            <a:ext cx="2743199" cy="3002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lgn="l">
              <a:lnSpc>
                <a:spcPts val="1800"/>
              </a:lnSpc>
              <a:spcAft>
                <a:spcPts val="600"/>
              </a:spcAft>
              <a:buNone/>
            </a:pPr>
            <a:endParaRPr lang="en-US" sz="1200">
              <a:solidFill>
                <a:prstClr val="black">
                  <a:lumMod val="75000"/>
                  <a:lumOff val="25000"/>
                </a:prstClr>
              </a:solidFill>
              <a:cs typeface="Segoe UI"/>
            </a:endParaRPr>
          </a:p>
        </p:txBody>
      </p:sp>
      <p:sp>
        <p:nvSpPr>
          <p:cNvPr id="2" name="TextBox 1">
            <a:extLst>
              <a:ext uri="{FF2B5EF4-FFF2-40B4-BE49-F238E27FC236}">
                <a16:creationId xmlns:a16="http://schemas.microsoft.com/office/drawing/2014/main" id="{5BCBD984-4323-03E2-29AD-AD97D7B4833C}"/>
              </a:ext>
            </a:extLst>
          </p:cNvPr>
          <p:cNvSpPr txBox="1"/>
          <p:nvPr/>
        </p:nvSpPr>
        <p:spPr>
          <a:xfrm>
            <a:off x="1014984" y="1453896"/>
            <a:ext cx="9244584" cy="4809744"/>
          </a:xfrm>
          <a:prstGeom prst="rect">
            <a:avLst/>
          </a:prstGeom>
        </p:spPr>
        <p:txBody>
          <a:bodyPr vert="horz" wrap="square" lIns="91440" tIns="45720" rIns="91440" bIns="45720" rtlCol="0">
            <a:noAutofit/>
          </a:bodyPr>
          <a:lstStyle/>
          <a:p>
            <a:pPr algn="l">
              <a:lnSpc>
                <a:spcPts val="1800"/>
              </a:lnSpc>
              <a:spcAft>
                <a:spcPts val="600"/>
              </a:spcAft>
            </a:pPr>
            <a:endParaRPr lang="en-IN" sz="200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BA76FB8D-AF7D-E3C7-7355-9456F3B68F12}"/>
              </a:ext>
            </a:extLst>
          </p:cNvPr>
          <p:cNvPicPr>
            <a:picLocks noChangeAspect="1"/>
          </p:cNvPicPr>
          <p:nvPr/>
        </p:nvPicPr>
        <p:blipFill>
          <a:blip r:embed="rId2"/>
          <a:stretch>
            <a:fillRect/>
          </a:stretch>
        </p:blipFill>
        <p:spPr>
          <a:xfrm>
            <a:off x="226203" y="1379546"/>
            <a:ext cx="6448918" cy="4728646"/>
          </a:xfrm>
          <a:prstGeom prst="rect">
            <a:avLst/>
          </a:prstGeom>
        </p:spPr>
      </p:pic>
      <p:pic>
        <p:nvPicPr>
          <p:cNvPr id="8" name="Picture 7">
            <a:extLst>
              <a:ext uri="{FF2B5EF4-FFF2-40B4-BE49-F238E27FC236}">
                <a16:creationId xmlns:a16="http://schemas.microsoft.com/office/drawing/2014/main" id="{D00D80A8-7A2F-5537-591A-F62730B57835}"/>
              </a:ext>
            </a:extLst>
          </p:cNvPr>
          <p:cNvPicPr>
            <a:picLocks noChangeAspect="1"/>
          </p:cNvPicPr>
          <p:nvPr/>
        </p:nvPicPr>
        <p:blipFill>
          <a:blip r:embed="rId3"/>
          <a:stretch>
            <a:fillRect/>
          </a:stretch>
        </p:blipFill>
        <p:spPr>
          <a:xfrm>
            <a:off x="6785610" y="1379546"/>
            <a:ext cx="5406390" cy="3387477"/>
          </a:xfrm>
          <a:prstGeom prst="rect">
            <a:avLst/>
          </a:prstGeom>
        </p:spPr>
      </p:pic>
    </p:spTree>
    <p:extLst>
      <p:ext uri="{BB962C8B-B14F-4D97-AF65-F5344CB8AC3E}">
        <p14:creationId xmlns:p14="http://schemas.microsoft.com/office/powerpoint/2010/main" val="38693783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962E6F-E51C-B54C-13E7-14E58A4F2720}"/>
              </a:ext>
            </a:extLst>
          </p:cNvPr>
          <p:cNvSpPr>
            <a:spLocks noGrp="1"/>
          </p:cNvSpPr>
          <p:nvPr>
            <p:ph type="title"/>
          </p:nvPr>
        </p:nvSpPr>
        <p:spPr>
          <a:xfrm>
            <a:off x="533397" y="450358"/>
            <a:ext cx="11125201" cy="746759"/>
          </a:xfrm>
        </p:spPr>
        <p:txBody>
          <a:bodyPr/>
          <a:lstStyle/>
          <a:p>
            <a:r>
              <a:rPr lang="en-US" b="1" u="sng" dirty="0">
                <a:solidFill>
                  <a:schemeClr val="tx1"/>
                </a:solidFill>
              </a:rPr>
              <a:t>References:</a:t>
            </a:r>
            <a:endParaRPr lang="en-IN" b="1" u="sng" dirty="0">
              <a:solidFill>
                <a:schemeClr val="tx1"/>
              </a:solidFill>
              <a:cs typeface="Segoe UI Light"/>
            </a:endParaRPr>
          </a:p>
        </p:txBody>
      </p:sp>
      <p:sp>
        <p:nvSpPr>
          <p:cNvPr id="2" name="Content Placeholder 1">
            <a:extLst>
              <a:ext uri="{FF2B5EF4-FFF2-40B4-BE49-F238E27FC236}">
                <a16:creationId xmlns:a16="http://schemas.microsoft.com/office/drawing/2014/main" id="{3E29DF94-3763-6726-3C30-FD2BAA6CE32A}"/>
              </a:ext>
            </a:extLst>
          </p:cNvPr>
          <p:cNvSpPr>
            <a:spLocks noGrp="1"/>
          </p:cNvSpPr>
          <p:nvPr>
            <p:ph idx="1"/>
          </p:nvPr>
        </p:nvSpPr>
        <p:spPr>
          <a:xfrm>
            <a:off x="604433" y="1197117"/>
            <a:ext cx="10983131" cy="5501761"/>
          </a:xfrm>
        </p:spPr>
        <p:txBody>
          <a:bodyPr vert="horz" lIns="91440" tIns="45720" rIns="91440" bIns="45720" rtlCol="0">
            <a:noAutofit/>
          </a:bodyPr>
          <a:lstStyle/>
          <a:p>
            <a:r>
              <a:rPr lang="en-IN" sz="1400">
                <a:cs typeface="Segoe UI"/>
              </a:rPr>
              <a:t>1)</a:t>
            </a:r>
            <a:r>
              <a:rPr lang="en-IN" sz="1400" i="1">
                <a:solidFill>
                  <a:srgbClr val="0070C0"/>
                </a:solidFill>
                <a:ea typeface="+mn-lt"/>
                <a:cs typeface="+mn-lt"/>
              </a:rPr>
              <a:t>https://github.com/BarakBinyamin/Trojan-Detection</a:t>
            </a:r>
            <a:endParaRPr lang="en-US" sz="1400" i="1">
              <a:solidFill>
                <a:srgbClr val="0070C0"/>
              </a:solidFill>
              <a:ea typeface="+mn-lt"/>
              <a:cs typeface="+mn-lt"/>
            </a:endParaRPr>
          </a:p>
          <a:p>
            <a:pPr>
              <a:buNone/>
            </a:pPr>
            <a:r>
              <a:rPr lang="en-IN" sz="1400">
                <a:ea typeface="+mn-lt"/>
                <a:cs typeface="+mn-lt"/>
              </a:rPr>
              <a:t>B. Binyamin, “Trojan-Detection: Some Generic Probabilistic Methodologies to Identify Hardware Trojans in Arbitrary Hardware Designs,” GitHub repository. This project describes probabilistic hardware-Trojan detection using pseudorandom input/output comparisons which inspired implementation and methodology.</a:t>
            </a:r>
            <a:endParaRPr lang="en-IN" sz="1400">
              <a:cs typeface="Segoe UI"/>
            </a:endParaRPr>
          </a:p>
          <a:p>
            <a:r>
              <a:rPr lang="en-IN" sz="1400">
                <a:cs typeface="Segoe UI"/>
              </a:rPr>
              <a:t>2)</a:t>
            </a:r>
            <a:r>
              <a:rPr lang="en-IN" sz="1400" i="1">
                <a:solidFill>
                  <a:srgbClr val="0070C0"/>
                </a:solidFill>
                <a:ea typeface="+mn-lt"/>
                <a:cs typeface="+mn-lt"/>
              </a:rPr>
              <a:t>https://ieeexplore.ieee.org/document/10942366</a:t>
            </a:r>
            <a:endParaRPr lang="en-IN" sz="1400" i="1">
              <a:solidFill>
                <a:srgbClr val="0070C0"/>
              </a:solidFill>
              <a:cs typeface="Segoe UI"/>
            </a:endParaRPr>
          </a:p>
          <a:p>
            <a:r>
              <a:rPr lang="en-IN" sz="1400">
                <a:ea typeface="+mn-lt"/>
                <a:cs typeface="+mn-lt"/>
              </a:rPr>
              <a:t>J. Cruz and J. Hamlet, “A Survey on the Design, Detection, and Prevention of Pre-Silicon Hardware Trojans,” IEEE Access, vol. 13, pp. 58509–58547, 2025. It surveys pre-silicon Trojan detection approaches, prevention methods, benchmarks, and limitations.</a:t>
            </a:r>
          </a:p>
          <a:p>
            <a:r>
              <a:rPr lang="en-IN" sz="1400">
                <a:cs typeface="Segoe UI"/>
              </a:rPr>
              <a:t>3)</a:t>
            </a:r>
            <a:r>
              <a:rPr lang="en-IN" sz="1400" i="1">
                <a:solidFill>
                  <a:srgbClr val="0070C0"/>
                </a:solidFill>
                <a:cs typeface="Segoe UI"/>
              </a:rPr>
              <a:t>https://ieeexplore.ieee.org/document/7086012</a:t>
            </a:r>
          </a:p>
          <a:p>
            <a:r>
              <a:rPr lang="en-IN" sz="1400">
                <a:ea typeface="+mn-lt"/>
                <a:cs typeface="+mn-lt"/>
              </a:rPr>
              <a:t>J. Zhang, F. Yuan, L. Wei, Y. Liu, and Q. Xu, “</a:t>
            </a:r>
            <a:r>
              <a:rPr lang="en-IN" sz="1400" err="1">
                <a:ea typeface="+mn-lt"/>
                <a:cs typeface="+mn-lt"/>
              </a:rPr>
              <a:t>VeriTrust</a:t>
            </a:r>
            <a:r>
              <a:rPr lang="en-IN" sz="1400">
                <a:ea typeface="+mn-lt"/>
                <a:cs typeface="+mn-lt"/>
              </a:rPr>
              <a:t>: Verification for Hardware Trust,” IEEE Transactions on Computer-Aided Design of Integrated Circuits and Systems, vol. 34, no. 7, pp. 1148–1161, 2015. Useful for: identifying potential Trojan trigger inputs through verification and analysing suspicious hardware behaviour.</a:t>
            </a:r>
          </a:p>
          <a:p>
            <a:r>
              <a:rPr lang="en-IN" sz="1400">
                <a:cs typeface="Segoe UI"/>
              </a:rPr>
              <a:t>4)</a:t>
            </a:r>
            <a:r>
              <a:rPr lang="en-IN" sz="1400" i="1">
                <a:solidFill>
                  <a:srgbClr val="0070C0"/>
                </a:solidFill>
                <a:cs typeface="Segoe UI"/>
              </a:rPr>
              <a:t>https://dl.acm.org/doi/10.1145/2228360.2228378</a:t>
            </a:r>
            <a:endParaRPr lang="en-IN" sz="1400" i="1">
              <a:solidFill>
                <a:srgbClr val="0070C0"/>
              </a:solidFill>
              <a:ea typeface="+mn-lt"/>
              <a:cs typeface="+mn-lt"/>
            </a:endParaRPr>
          </a:p>
          <a:p>
            <a:r>
              <a:rPr lang="en-IN" sz="1400">
                <a:ea typeface="+mn-lt"/>
                <a:cs typeface="+mn-lt"/>
              </a:rPr>
              <a:t>S. Wei, K. Li, F. Koushanfar, and M. Potkonjak, “Hardware Trojan Horse Benchmark via Optimal Creation and Placement of Malicious Circuitry,</a:t>
            </a:r>
            <a:r>
              <a:rPr lang="en-IN" sz="1100">
                <a:ea typeface="+mn-lt"/>
                <a:cs typeface="+mn-lt"/>
              </a:rPr>
              <a:t>” </a:t>
            </a:r>
            <a:r>
              <a:rPr lang="en-IN" sz="1400">
                <a:ea typeface="+mn-lt"/>
                <a:cs typeface="+mn-lt"/>
              </a:rPr>
              <a:t>in Proceedings of the 49th Annual Design Automation Conference (DAC), 2012, pp. 90–95. It provides useful research context for evaluating Trojan-detection methods</a:t>
            </a:r>
            <a:endParaRPr lang="en-IN" sz="1400">
              <a:cs typeface="Segoe UI"/>
            </a:endParaRPr>
          </a:p>
        </p:txBody>
      </p:sp>
    </p:spTree>
    <p:extLst>
      <p:ext uri="{BB962C8B-B14F-4D97-AF65-F5344CB8AC3E}">
        <p14:creationId xmlns:p14="http://schemas.microsoft.com/office/powerpoint/2010/main" val="26167270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35E9E-5BAD-D046-3067-BA6F89EB0E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16DBBF-C313-486C-8182-F24DEBE33B65}"/>
              </a:ext>
            </a:extLst>
          </p:cNvPr>
          <p:cNvSpPr>
            <a:spLocks noGrp="1"/>
          </p:cNvSpPr>
          <p:nvPr>
            <p:ph type="title"/>
          </p:nvPr>
        </p:nvSpPr>
        <p:spPr/>
        <p:txBody>
          <a:bodyPr/>
          <a:lstStyle/>
          <a:p>
            <a:r>
              <a:rPr lang="en-US" u="sng">
                <a:solidFill>
                  <a:schemeClr val="tx1"/>
                </a:solidFill>
              </a:rPr>
              <a:t>Individual Roles:</a:t>
            </a:r>
            <a:endParaRPr lang="en-IN" u="sng">
              <a:solidFill>
                <a:schemeClr val="tx1"/>
              </a:solidFill>
            </a:endParaRPr>
          </a:p>
        </p:txBody>
      </p:sp>
      <p:sp>
        <p:nvSpPr>
          <p:cNvPr id="2" name="Content Placeholder 1">
            <a:extLst>
              <a:ext uri="{FF2B5EF4-FFF2-40B4-BE49-F238E27FC236}">
                <a16:creationId xmlns:a16="http://schemas.microsoft.com/office/drawing/2014/main" id="{33E53F9F-1702-3756-C99B-77FE73BA2283}"/>
              </a:ext>
            </a:extLst>
          </p:cNvPr>
          <p:cNvSpPr>
            <a:spLocks noGrp="1"/>
          </p:cNvSpPr>
          <p:nvPr>
            <p:ph idx="1"/>
          </p:nvPr>
        </p:nvSpPr>
        <p:spPr>
          <a:xfrm>
            <a:off x="604433" y="1604211"/>
            <a:ext cx="10983131" cy="3706367"/>
          </a:xfrm>
        </p:spPr>
        <p:txBody>
          <a:bodyPr vert="horz" lIns="91440" tIns="45720" rIns="91440" bIns="45720" rtlCol="0">
            <a:normAutofit/>
          </a:bodyPr>
          <a:lstStyle/>
          <a:p>
            <a:pPr marL="285750" indent="-285750">
              <a:spcBef>
                <a:spcPts val="0"/>
              </a:spcBef>
              <a:spcAft>
                <a:spcPts val="1000"/>
              </a:spcAft>
              <a:buClr>
                <a:prstClr val="white"/>
              </a:buClr>
              <a:buSzPct val="100000"/>
              <a:buFont typeface="Arial"/>
              <a:buChar char="•"/>
            </a:pPr>
            <a:r>
              <a:rPr lang="en-IN" sz="2000" dirty="0">
                <a:latin typeface="Arial"/>
                <a:ea typeface="Calibri"/>
                <a:cs typeface="Arial"/>
              </a:rPr>
              <a:t>1)Gourav :-Target system(UART) ,trojans ,debugging</a:t>
            </a:r>
            <a:endParaRPr lang="en-US" dirty="0"/>
          </a:p>
          <a:p>
            <a:pPr marL="285750" indent="-285750">
              <a:spcBef>
                <a:spcPts val="0"/>
              </a:spcBef>
              <a:spcAft>
                <a:spcPts val="1000"/>
              </a:spcAft>
              <a:buClr>
                <a:srgbClr val="FFFFFF"/>
              </a:buClr>
              <a:buSzPct val="100000"/>
              <a:buFont typeface="Arial"/>
              <a:buChar char="•"/>
            </a:pPr>
            <a:r>
              <a:rPr lang="en-IN" sz="2000" dirty="0">
                <a:latin typeface="Arial"/>
                <a:ea typeface="Calibri"/>
                <a:cs typeface="Arial"/>
              </a:rPr>
              <a:t>2)Khush Varshney:-Target system(UART) , trojans ,final analysis</a:t>
            </a:r>
          </a:p>
          <a:p>
            <a:pPr marL="285750" indent="-285750">
              <a:spcBef>
                <a:spcPts val="0"/>
              </a:spcBef>
              <a:spcAft>
                <a:spcPts val="1000"/>
              </a:spcAft>
              <a:buClr>
                <a:srgbClr val="FFFFFF"/>
              </a:buClr>
              <a:buSzPct val="100000"/>
              <a:buFont typeface="Arial"/>
              <a:buChar char="•"/>
            </a:pPr>
            <a:r>
              <a:rPr lang="en-IN" sz="2000" dirty="0">
                <a:latin typeface="Arial"/>
                <a:ea typeface="Calibri"/>
                <a:cs typeface="Arial"/>
              </a:rPr>
              <a:t>3)Hanzala Zaid:-Python integration ,trojans</a:t>
            </a:r>
          </a:p>
          <a:p>
            <a:pPr marL="285750" indent="-285750">
              <a:spcBef>
                <a:spcPts val="0"/>
              </a:spcBef>
              <a:spcAft>
                <a:spcPts val="1000"/>
              </a:spcAft>
              <a:buClr>
                <a:srgbClr val="FFFFFF"/>
              </a:buClr>
              <a:buSzPct val="100000"/>
              <a:buFont typeface="Arial"/>
              <a:buChar char="•"/>
            </a:pPr>
            <a:r>
              <a:rPr lang="en-IN" sz="2000" dirty="0">
                <a:latin typeface="Arial"/>
                <a:ea typeface="Calibri"/>
                <a:cs typeface="Arial"/>
              </a:rPr>
              <a:t>4)Jatin Singla :-Python integration , rarity calculation</a:t>
            </a:r>
          </a:p>
          <a:p>
            <a:pPr marL="285750" indent="-285750">
              <a:spcBef>
                <a:spcPts val="0"/>
              </a:spcBef>
              <a:spcAft>
                <a:spcPts val="1000"/>
              </a:spcAft>
              <a:buClr>
                <a:srgbClr val="FFFFFF"/>
              </a:buClr>
              <a:buSzPct val="100000"/>
              <a:buFont typeface="Arial"/>
              <a:buChar char="•"/>
            </a:pPr>
            <a:r>
              <a:rPr lang="en-IN" sz="2000" dirty="0">
                <a:latin typeface="Arial"/>
                <a:ea typeface="Calibri"/>
                <a:cs typeface="Arial"/>
              </a:rPr>
              <a:t>5)Jayanth Kumar </a:t>
            </a:r>
            <a:r>
              <a:rPr lang="en-IN" sz="2000" dirty="0" err="1">
                <a:latin typeface="Arial"/>
                <a:ea typeface="Calibri"/>
                <a:cs typeface="Arial"/>
              </a:rPr>
              <a:t>Dahire</a:t>
            </a:r>
            <a:r>
              <a:rPr lang="en-IN" sz="2000" dirty="0">
                <a:latin typeface="Arial"/>
                <a:ea typeface="Calibri"/>
                <a:cs typeface="Arial"/>
              </a:rPr>
              <a:t> :-Python integration ,test vector creation</a:t>
            </a:r>
          </a:p>
          <a:p>
            <a:pPr marL="285750" indent="-285750">
              <a:spcBef>
                <a:spcPts val="0"/>
              </a:spcBef>
              <a:spcAft>
                <a:spcPts val="1000"/>
              </a:spcAft>
              <a:buClr>
                <a:srgbClr val="FFFFFF"/>
              </a:buClr>
              <a:buSzPct val="100000"/>
              <a:buFont typeface="Arial"/>
              <a:buChar char="•"/>
            </a:pPr>
            <a:endParaRPr lang="en-IN" sz="2000" dirty="0">
              <a:latin typeface="Arial"/>
              <a:ea typeface="Calibri"/>
              <a:cs typeface="Arial"/>
            </a:endParaRPr>
          </a:p>
          <a:p>
            <a:pPr marL="285750" indent="-285750">
              <a:spcBef>
                <a:spcPts val="0"/>
              </a:spcBef>
              <a:spcAft>
                <a:spcPts val="1000"/>
              </a:spcAft>
              <a:buClr>
                <a:srgbClr val="FFFFFF"/>
              </a:buClr>
              <a:buSzPct val="100000"/>
              <a:buFont typeface="Arial"/>
              <a:buChar char="•"/>
            </a:pPr>
            <a:r>
              <a:rPr lang="en-IN" sz="2000" dirty="0">
                <a:latin typeface="Arial"/>
                <a:ea typeface="Calibri"/>
                <a:cs typeface="Arial"/>
              </a:rPr>
              <a:t>GitHub Link : </a:t>
            </a:r>
            <a:r>
              <a:rPr lang="en-IN" sz="2000" dirty="0">
                <a:latin typeface="Arial"/>
                <a:ea typeface="Calibri"/>
                <a:cs typeface="Arial"/>
                <a:hlinkClick r:id="rId2"/>
              </a:rPr>
              <a:t>https://github.com/JayanthDahire/HTD</a:t>
            </a:r>
            <a:endParaRPr lang="en-IN" sz="2000" dirty="0">
              <a:latin typeface="Arial"/>
              <a:ea typeface="Calibri"/>
              <a:cs typeface="Arial"/>
            </a:endParaRPr>
          </a:p>
        </p:txBody>
      </p:sp>
    </p:spTree>
    <p:extLst>
      <p:ext uri="{BB962C8B-B14F-4D97-AF65-F5344CB8AC3E}">
        <p14:creationId xmlns:p14="http://schemas.microsoft.com/office/powerpoint/2010/main" val="373922112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BDBE-1F33-B2FA-9664-005A87B656F2}"/>
              </a:ext>
            </a:extLst>
          </p:cNvPr>
          <p:cNvSpPr>
            <a:spLocks noGrp="1"/>
          </p:cNvSpPr>
          <p:nvPr>
            <p:ph type="title"/>
          </p:nvPr>
        </p:nvSpPr>
        <p:spPr>
          <a:xfrm>
            <a:off x="3286607" y="2768600"/>
            <a:ext cx="8596668" cy="1320800"/>
          </a:xfrm>
        </p:spPr>
        <p:txBody>
          <a:bodyPr>
            <a:normAutofit/>
          </a:bodyPr>
          <a:lstStyle/>
          <a:p>
            <a:r>
              <a:rPr lang="en-US" sz="8000"/>
              <a:t>THANK YOU</a:t>
            </a:r>
          </a:p>
        </p:txBody>
      </p:sp>
    </p:spTree>
    <p:extLst>
      <p:ext uri="{BB962C8B-B14F-4D97-AF65-F5344CB8AC3E}">
        <p14:creationId xmlns:p14="http://schemas.microsoft.com/office/powerpoint/2010/main" val="353809378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1537</Words>
  <Application>Microsoft Office PowerPoint</Application>
  <PresentationFormat>Widescreen</PresentationFormat>
  <Paragraphs>165</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Segoe UI</vt:lpstr>
      <vt:lpstr>Segoe UI Light</vt:lpstr>
      <vt:lpstr>Segoe UI,Sans-Serif</vt:lpstr>
      <vt:lpstr>Trebuchet MS</vt:lpstr>
      <vt:lpstr>Wingdings</vt:lpstr>
      <vt:lpstr>Wingdings 3</vt:lpstr>
      <vt:lpstr>Facet</vt:lpstr>
      <vt:lpstr>Hardware Trojan Detection at RTL Level</vt:lpstr>
      <vt:lpstr>Team members</vt:lpstr>
      <vt:lpstr>Stage-1 </vt:lpstr>
      <vt:lpstr>Understanding and Preparing the Plan of the Project </vt:lpstr>
      <vt:lpstr>Stage-2</vt:lpstr>
      <vt:lpstr>Stage-2</vt:lpstr>
      <vt:lpstr>Stage-2</vt:lpstr>
      <vt:lpstr>Stage-3 (Construction of trojans and their detection)</vt:lpstr>
      <vt:lpstr>Stage-3 (Construction of trojans and their detection)</vt:lpstr>
      <vt:lpstr>Stage-3 (Construction of trojans and their detection)</vt:lpstr>
      <vt:lpstr>Stage-3 (Construction of trojans and their detection)</vt:lpstr>
      <vt:lpstr>Stage-3 (Construction of trojans and their detection)</vt:lpstr>
      <vt:lpstr>Stage-4 (Final implementation)</vt:lpstr>
      <vt:lpstr>Stage-4 (Final implementation)</vt:lpstr>
      <vt:lpstr>Stage-4 (Final implementation)</vt:lpstr>
      <vt:lpstr>Stage-4 (Final implementation)</vt:lpstr>
      <vt:lpstr>References:</vt:lpstr>
      <vt:lpstr>Individual Roles: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Gourav Sorout</dc:creator>
  <cp:lastModifiedBy>Gourav Sorout</cp:lastModifiedBy>
  <cp:revision>3</cp:revision>
  <dcterms:created xsi:type="dcterms:W3CDTF">2026-10-24T18:05:00Z</dcterms:created>
  <dcterms:modified xsi:type="dcterms:W3CDTF">2026-10-26T08:16:39Z</dcterms:modified>
</cp:coreProperties>
</file>